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ITC Motter Corpus Semicondensed" charset="1" panose="04020A05040802020202"/>
      <p:regular r:id="rId16"/>
    </p:embeddedFont>
    <p:embeddedFont>
      <p:font typeface="Nunito" charset="1" panose="00000000000000000000"/>
      <p:regular r:id="rId17"/>
    </p:embeddedFont>
    <p:embeddedFont>
      <p:font typeface="Nunito Bold" charset="1" panose="00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23.png" Type="http://schemas.openxmlformats.org/officeDocument/2006/relationships/image"/><Relationship Id="rId17" Target="../media/image2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9.png" Type="http://schemas.openxmlformats.org/officeDocument/2006/relationships/image"/><Relationship Id="rId15" Target="../media/image10.svg" Type="http://schemas.openxmlformats.org/officeDocument/2006/relationships/image"/><Relationship Id="rId16" Target="../media/image11.png" Type="http://schemas.openxmlformats.org/officeDocument/2006/relationships/image"/><Relationship Id="rId17"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19.png" Type="http://schemas.openxmlformats.org/officeDocument/2006/relationships/image"/><Relationship Id="rId15" Target="../media/image20.svg" Type="http://schemas.openxmlformats.org/officeDocument/2006/relationships/image"/><Relationship Id="rId16" Target="../media/image29.png" Type="http://schemas.openxmlformats.org/officeDocument/2006/relationships/image"/><Relationship Id="rId17" Target="../media/image30.svg" Type="http://schemas.openxmlformats.org/officeDocument/2006/relationships/image"/><Relationship Id="rId18" Target="../media/image31.png" Type="http://schemas.openxmlformats.org/officeDocument/2006/relationships/image"/><Relationship Id="rId19" Target="../media/image32.svg" Type="http://schemas.openxmlformats.org/officeDocument/2006/relationships/image"/><Relationship Id="rId2" Target="../media/image1.png" Type="http://schemas.openxmlformats.org/officeDocument/2006/relationships/image"/><Relationship Id="rId20" Target="../media/image33.png" Type="http://schemas.openxmlformats.org/officeDocument/2006/relationships/image"/><Relationship Id="rId21" Target="../media/image34.svg" Type="http://schemas.openxmlformats.org/officeDocument/2006/relationships/image"/><Relationship Id="rId22" Target="../media/image35.png" Type="http://schemas.openxmlformats.org/officeDocument/2006/relationships/image"/><Relationship Id="rId23" Target="../media/image36.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19.png" Type="http://schemas.openxmlformats.org/officeDocument/2006/relationships/image"/><Relationship Id="rId13" Target="../media/image20.svg" Type="http://schemas.openxmlformats.org/officeDocument/2006/relationships/image"/><Relationship Id="rId14" Target="../media/image37.png" Type="http://schemas.openxmlformats.org/officeDocument/2006/relationships/image"/><Relationship Id="rId15" Target="../media/image38.svg" Type="http://schemas.openxmlformats.org/officeDocument/2006/relationships/image"/><Relationship Id="rId16" Target="../media/image39.png" Type="http://schemas.openxmlformats.org/officeDocument/2006/relationships/image"/><Relationship Id="rId17" Target="../media/image4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23.png" Type="http://schemas.openxmlformats.org/officeDocument/2006/relationships/image"/><Relationship Id="rId15" Target="../media/image24.svg" Type="http://schemas.openxmlformats.org/officeDocument/2006/relationships/image"/><Relationship Id="rId16" Target="../media/image41.png" Type="http://schemas.openxmlformats.org/officeDocument/2006/relationships/image"/><Relationship Id="rId17" Target="../media/image4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9.png" Type="http://schemas.openxmlformats.org/officeDocument/2006/relationships/image"/><Relationship Id="rId13" Target="../media/image20.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16" Target="../media/image21.png" Type="http://schemas.openxmlformats.org/officeDocument/2006/relationships/image"/><Relationship Id="rId17" Target="../media/image22.svg" Type="http://schemas.openxmlformats.org/officeDocument/2006/relationships/image"/><Relationship Id="rId18" Target="../media/image43.png" Type="http://schemas.openxmlformats.org/officeDocument/2006/relationships/image"/><Relationship Id="rId19" Target="../media/image44.svg" Type="http://schemas.openxmlformats.org/officeDocument/2006/relationships/image"/><Relationship Id="rId2" Target="../media/image1.png" Type="http://schemas.openxmlformats.org/officeDocument/2006/relationships/image"/><Relationship Id="rId20" Target="../media/image45.png" Type="http://schemas.openxmlformats.org/officeDocument/2006/relationships/image"/><Relationship Id="rId21" Target="../media/image46.svg" Type="http://schemas.openxmlformats.org/officeDocument/2006/relationships/image"/><Relationship Id="rId22" Target="../media/image47.png" Type="http://schemas.openxmlformats.org/officeDocument/2006/relationships/image"/><Relationship Id="rId23" Target="../media/image4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16" Target="../media/image49.png" Type="http://schemas.openxmlformats.org/officeDocument/2006/relationships/image"/><Relationship Id="rId17" Target="../media/image50.svg" Type="http://schemas.openxmlformats.org/officeDocument/2006/relationships/image"/><Relationship Id="rId18" Target="../media/image15.png" Type="http://schemas.openxmlformats.org/officeDocument/2006/relationships/image"/><Relationship Id="rId19"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51.png" Type="http://schemas.openxmlformats.org/officeDocument/2006/relationships/image"/><Relationship Id="rId13" Target="../media/image52.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9.png" Type="http://schemas.openxmlformats.org/officeDocument/2006/relationships/image"/><Relationship Id="rId17" Target="../media/image20.svg" Type="http://schemas.openxmlformats.org/officeDocument/2006/relationships/image"/><Relationship Id="rId18" Target="../media/image39.png" Type="http://schemas.openxmlformats.org/officeDocument/2006/relationships/image"/><Relationship Id="rId19" Target="../media/image4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23.png" Type="http://schemas.openxmlformats.org/officeDocument/2006/relationships/image"/><Relationship Id="rId15" Target="../media/image24.svg" Type="http://schemas.openxmlformats.org/officeDocument/2006/relationships/image"/><Relationship Id="rId16" Target="../media/image53.png" Type="http://schemas.openxmlformats.org/officeDocument/2006/relationships/image"/><Relationship Id="rId17" Target="../media/image5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93B170"/>
        </a:solidFill>
      </p:bgPr>
    </p:bg>
    <p:spTree>
      <p:nvGrpSpPr>
        <p:cNvPr id="1" name=""/>
        <p:cNvGrpSpPr/>
        <p:nvPr/>
      </p:nvGrpSpPr>
      <p:grpSpPr>
        <a:xfrm>
          <a:off x="0" y="0"/>
          <a:ext cx="0" cy="0"/>
          <a:chOff x="0" y="0"/>
          <a:chExt cx="0" cy="0"/>
        </a:xfrm>
      </p:grpSpPr>
      <p:sp>
        <p:nvSpPr>
          <p:cNvPr name="Freeform 2" id="2"/>
          <p:cNvSpPr/>
          <p:nvPr/>
        </p:nvSpPr>
        <p:spPr>
          <a:xfrm flipH="false" flipV="false" rot="0">
            <a:off x="-3666301" y="5684195"/>
            <a:ext cx="14316670" cy="4624534"/>
          </a:xfrm>
          <a:custGeom>
            <a:avLst/>
            <a:gdLst/>
            <a:ahLst/>
            <a:cxnLst/>
            <a:rect r="r" b="b" t="t" l="l"/>
            <a:pathLst>
              <a:path h="4624534" w="14316670">
                <a:moveTo>
                  <a:pt x="0" y="0"/>
                </a:moveTo>
                <a:lnTo>
                  <a:pt x="14316670" y="0"/>
                </a:lnTo>
                <a:lnTo>
                  <a:pt x="14316670" y="4624534"/>
                </a:lnTo>
                <a:lnTo>
                  <a:pt x="0" y="4624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53250" y="5684195"/>
            <a:ext cx="14316670" cy="4624534"/>
          </a:xfrm>
          <a:custGeom>
            <a:avLst/>
            <a:gdLst/>
            <a:ahLst/>
            <a:cxnLst/>
            <a:rect r="r" b="b" t="t" l="l"/>
            <a:pathLst>
              <a:path h="4624534" w="14316670">
                <a:moveTo>
                  <a:pt x="0" y="0"/>
                </a:moveTo>
                <a:lnTo>
                  <a:pt x="14316670" y="0"/>
                </a:lnTo>
                <a:lnTo>
                  <a:pt x="14316670" y="4624534"/>
                </a:lnTo>
                <a:lnTo>
                  <a:pt x="0" y="4624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530744" y="0"/>
            <a:ext cx="4961271" cy="4961271"/>
          </a:xfrm>
          <a:custGeom>
            <a:avLst/>
            <a:gdLst/>
            <a:ahLst/>
            <a:cxnLst/>
            <a:rect r="r" b="b" t="t" l="l"/>
            <a:pathLst>
              <a:path h="4961271" w="4961271">
                <a:moveTo>
                  <a:pt x="0" y="0"/>
                </a:moveTo>
                <a:lnTo>
                  <a:pt x="4961271" y="0"/>
                </a:lnTo>
                <a:lnTo>
                  <a:pt x="4961271"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0">
            <a:off x="4430527" y="0"/>
            <a:ext cx="4961271" cy="4961271"/>
          </a:xfrm>
          <a:custGeom>
            <a:avLst/>
            <a:gdLst/>
            <a:ahLst/>
            <a:cxnLst/>
            <a:rect r="r" b="b" t="t" l="l"/>
            <a:pathLst>
              <a:path h="4961271" w="4961271">
                <a:moveTo>
                  <a:pt x="0" y="0"/>
                </a:moveTo>
                <a:lnTo>
                  <a:pt x="4961272" y="0"/>
                </a:lnTo>
                <a:lnTo>
                  <a:pt x="4961272"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9391799" y="0"/>
            <a:ext cx="4961271" cy="4961271"/>
          </a:xfrm>
          <a:custGeom>
            <a:avLst/>
            <a:gdLst/>
            <a:ahLst/>
            <a:cxnLst/>
            <a:rect r="r" b="b" t="t" l="l"/>
            <a:pathLst>
              <a:path h="4961271" w="4961271">
                <a:moveTo>
                  <a:pt x="0" y="0"/>
                </a:moveTo>
                <a:lnTo>
                  <a:pt x="4961271" y="0"/>
                </a:lnTo>
                <a:lnTo>
                  <a:pt x="4961271"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4353070" y="0"/>
            <a:ext cx="4961271" cy="4961271"/>
          </a:xfrm>
          <a:custGeom>
            <a:avLst/>
            <a:gdLst/>
            <a:ahLst/>
            <a:cxnLst/>
            <a:rect r="r" b="b" t="t" l="l"/>
            <a:pathLst>
              <a:path h="4961271" w="4961271">
                <a:moveTo>
                  <a:pt x="0" y="0"/>
                </a:moveTo>
                <a:lnTo>
                  <a:pt x="4961272" y="0"/>
                </a:lnTo>
                <a:lnTo>
                  <a:pt x="4961272"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0">
            <a:off x="1292168" y="2434618"/>
            <a:ext cx="7851832" cy="5417764"/>
          </a:xfrm>
          <a:custGeom>
            <a:avLst/>
            <a:gdLst/>
            <a:ahLst/>
            <a:cxnLst/>
            <a:rect r="r" b="b" t="t" l="l"/>
            <a:pathLst>
              <a:path h="5417764" w="7851832">
                <a:moveTo>
                  <a:pt x="0" y="0"/>
                </a:moveTo>
                <a:lnTo>
                  <a:pt x="7851832" y="0"/>
                </a:lnTo>
                <a:lnTo>
                  <a:pt x="7851832" y="5417764"/>
                </a:lnTo>
                <a:lnTo>
                  <a:pt x="0" y="54177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9144000" y="2434618"/>
            <a:ext cx="7851832" cy="5417764"/>
          </a:xfrm>
          <a:custGeom>
            <a:avLst/>
            <a:gdLst/>
            <a:ahLst/>
            <a:cxnLst/>
            <a:rect r="r" b="b" t="t" l="l"/>
            <a:pathLst>
              <a:path h="5417764" w="7851832">
                <a:moveTo>
                  <a:pt x="0" y="0"/>
                </a:moveTo>
                <a:lnTo>
                  <a:pt x="7851832" y="0"/>
                </a:lnTo>
                <a:lnTo>
                  <a:pt x="7851832" y="5417764"/>
                </a:lnTo>
                <a:lnTo>
                  <a:pt x="0" y="54177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9391799" y="2752724"/>
            <a:ext cx="7356235" cy="4781553"/>
          </a:xfrm>
          <a:custGeom>
            <a:avLst/>
            <a:gdLst/>
            <a:ahLst/>
            <a:cxnLst/>
            <a:rect r="r" b="b" t="t" l="l"/>
            <a:pathLst>
              <a:path h="4781553" w="7356235">
                <a:moveTo>
                  <a:pt x="0" y="0"/>
                </a:moveTo>
                <a:lnTo>
                  <a:pt x="7356234" y="0"/>
                </a:lnTo>
                <a:lnTo>
                  <a:pt x="7356234" y="4781552"/>
                </a:lnTo>
                <a:lnTo>
                  <a:pt x="0" y="47815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557493" y="6888403"/>
            <a:ext cx="1260103" cy="963979"/>
          </a:xfrm>
          <a:custGeom>
            <a:avLst/>
            <a:gdLst/>
            <a:ahLst/>
            <a:cxnLst/>
            <a:rect r="r" b="b" t="t" l="l"/>
            <a:pathLst>
              <a:path h="963979" w="1260103">
                <a:moveTo>
                  <a:pt x="0" y="0"/>
                </a:moveTo>
                <a:lnTo>
                  <a:pt x="1260103" y="0"/>
                </a:lnTo>
                <a:lnTo>
                  <a:pt x="1260103" y="963979"/>
                </a:lnTo>
                <a:lnTo>
                  <a:pt x="0" y="96397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5065017" y="6888403"/>
            <a:ext cx="1260103" cy="963979"/>
          </a:xfrm>
          <a:custGeom>
            <a:avLst/>
            <a:gdLst/>
            <a:ahLst/>
            <a:cxnLst/>
            <a:rect r="r" b="b" t="t" l="l"/>
            <a:pathLst>
              <a:path h="963979" w="1260103">
                <a:moveTo>
                  <a:pt x="0" y="0"/>
                </a:moveTo>
                <a:lnTo>
                  <a:pt x="1260103" y="0"/>
                </a:lnTo>
                <a:lnTo>
                  <a:pt x="1260103" y="963979"/>
                </a:lnTo>
                <a:lnTo>
                  <a:pt x="0" y="96397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901852" y="6619929"/>
            <a:ext cx="1611050" cy="1232453"/>
          </a:xfrm>
          <a:custGeom>
            <a:avLst/>
            <a:gdLst/>
            <a:ahLst/>
            <a:cxnLst/>
            <a:rect r="r" b="b" t="t" l="l"/>
            <a:pathLst>
              <a:path h="1232453" w="1611050">
                <a:moveTo>
                  <a:pt x="0" y="0"/>
                </a:moveTo>
                <a:lnTo>
                  <a:pt x="1611050" y="0"/>
                </a:lnTo>
                <a:lnTo>
                  <a:pt x="1611050" y="1232453"/>
                </a:lnTo>
                <a:lnTo>
                  <a:pt x="0" y="123245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5519595" y="6619929"/>
            <a:ext cx="1611050" cy="1232453"/>
          </a:xfrm>
          <a:custGeom>
            <a:avLst/>
            <a:gdLst/>
            <a:ahLst/>
            <a:cxnLst/>
            <a:rect r="r" b="b" t="t" l="l"/>
            <a:pathLst>
              <a:path h="1232453" w="1611050">
                <a:moveTo>
                  <a:pt x="0" y="0"/>
                </a:moveTo>
                <a:lnTo>
                  <a:pt x="1611050" y="0"/>
                </a:lnTo>
                <a:lnTo>
                  <a:pt x="1611050" y="1232453"/>
                </a:lnTo>
                <a:lnTo>
                  <a:pt x="0" y="123245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8239649" y="2113614"/>
            <a:ext cx="1278220" cy="1278220"/>
          </a:xfrm>
          <a:custGeom>
            <a:avLst/>
            <a:gdLst/>
            <a:ahLst/>
            <a:cxnLst/>
            <a:rect r="r" b="b" t="t" l="l"/>
            <a:pathLst>
              <a:path h="1278220" w="1278220">
                <a:moveTo>
                  <a:pt x="0" y="0"/>
                </a:moveTo>
                <a:lnTo>
                  <a:pt x="1278220" y="0"/>
                </a:lnTo>
                <a:lnTo>
                  <a:pt x="1278220" y="1278220"/>
                </a:lnTo>
                <a:lnTo>
                  <a:pt x="0" y="127822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1707377" y="2434618"/>
            <a:ext cx="337783" cy="1195692"/>
          </a:xfrm>
          <a:custGeom>
            <a:avLst/>
            <a:gdLst/>
            <a:ahLst/>
            <a:cxnLst/>
            <a:rect r="r" b="b" t="t" l="l"/>
            <a:pathLst>
              <a:path h="1195692" w="337783">
                <a:moveTo>
                  <a:pt x="0" y="0"/>
                </a:moveTo>
                <a:lnTo>
                  <a:pt x="337783" y="0"/>
                </a:lnTo>
                <a:lnTo>
                  <a:pt x="337783" y="1195692"/>
                </a:lnTo>
                <a:lnTo>
                  <a:pt x="0" y="119569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7" id="17"/>
          <p:cNvSpPr txBox="true"/>
          <p:nvPr/>
        </p:nvSpPr>
        <p:spPr>
          <a:xfrm rot="0">
            <a:off x="1968445" y="3502085"/>
            <a:ext cx="6499277" cy="2066859"/>
          </a:xfrm>
          <a:prstGeom prst="rect">
            <a:avLst/>
          </a:prstGeom>
        </p:spPr>
        <p:txBody>
          <a:bodyPr anchor="t" rtlCol="false" tIns="0" lIns="0" bIns="0" rIns="0">
            <a:spAutoFit/>
          </a:bodyPr>
          <a:lstStyle/>
          <a:p>
            <a:pPr algn="ctr">
              <a:lnSpc>
                <a:spcPts val="7679"/>
              </a:lnSpc>
            </a:pPr>
            <a:r>
              <a:rPr lang="en-US" sz="6399">
                <a:solidFill>
                  <a:srgbClr val="000000"/>
                </a:solidFill>
                <a:latin typeface="ITC Motter Corpus Semicondensed"/>
                <a:ea typeface="ITC Motter Corpus Semicondensed"/>
                <a:cs typeface="ITC Motter Corpus Semicondensed"/>
                <a:sym typeface="ITC Motter Corpus Semicondensed"/>
              </a:rPr>
              <a:t>ELDER CARE SOLUTIONS</a:t>
            </a:r>
          </a:p>
        </p:txBody>
      </p:sp>
      <p:sp>
        <p:nvSpPr>
          <p:cNvPr name="TextBox 18" id="18"/>
          <p:cNvSpPr txBox="true"/>
          <p:nvPr/>
        </p:nvSpPr>
        <p:spPr>
          <a:xfrm rot="0">
            <a:off x="1968445" y="5918272"/>
            <a:ext cx="6499277" cy="742818"/>
          </a:xfrm>
          <a:prstGeom prst="rect">
            <a:avLst/>
          </a:prstGeom>
        </p:spPr>
        <p:txBody>
          <a:bodyPr anchor="t" rtlCol="false" tIns="0" lIns="0" bIns="0" rIns="0">
            <a:spAutoFit/>
          </a:bodyPr>
          <a:lstStyle/>
          <a:p>
            <a:pPr algn="ctr">
              <a:lnSpc>
                <a:spcPts val="2999"/>
              </a:lnSpc>
            </a:pPr>
            <a:r>
              <a:rPr lang="en-US" sz="2499">
                <a:solidFill>
                  <a:srgbClr val="000000"/>
                </a:solidFill>
                <a:latin typeface="Nunito"/>
                <a:ea typeface="Nunito"/>
                <a:cs typeface="Nunito"/>
                <a:sym typeface="Nunito"/>
              </a:rPr>
              <a:t>“PROVIDING COMPASSIONATE AND COMPREHENSIVE SERVICES”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93B170"/>
        </a:solidFill>
      </p:bgPr>
    </p:bg>
    <p:spTree>
      <p:nvGrpSpPr>
        <p:cNvPr id="1" name=""/>
        <p:cNvGrpSpPr/>
        <p:nvPr/>
      </p:nvGrpSpPr>
      <p:grpSpPr>
        <a:xfrm>
          <a:off x="0" y="0"/>
          <a:ext cx="0" cy="0"/>
          <a:chOff x="0" y="0"/>
          <a:chExt cx="0" cy="0"/>
        </a:xfrm>
      </p:grpSpPr>
      <p:sp>
        <p:nvSpPr>
          <p:cNvPr name="Freeform 2" id="2"/>
          <p:cNvSpPr/>
          <p:nvPr/>
        </p:nvSpPr>
        <p:spPr>
          <a:xfrm flipH="false" flipV="false" rot="0">
            <a:off x="-3666301" y="5684195"/>
            <a:ext cx="14316670" cy="4624534"/>
          </a:xfrm>
          <a:custGeom>
            <a:avLst/>
            <a:gdLst/>
            <a:ahLst/>
            <a:cxnLst/>
            <a:rect r="r" b="b" t="t" l="l"/>
            <a:pathLst>
              <a:path h="4624534" w="14316670">
                <a:moveTo>
                  <a:pt x="0" y="0"/>
                </a:moveTo>
                <a:lnTo>
                  <a:pt x="14316670" y="0"/>
                </a:lnTo>
                <a:lnTo>
                  <a:pt x="14316670" y="4624534"/>
                </a:lnTo>
                <a:lnTo>
                  <a:pt x="0" y="4624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53250" y="5684195"/>
            <a:ext cx="14316670" cy="4624534"/>
          </a:xfrm>
          <a:custGeom>
            <a:avLst/>
            <a:gdLst/>
            <a:ahLst/>
            <a:cxnLst/>
            <a:rect r="r" b="b" t="t" l="l"/>
            <a:pathLst>
              <a:path h="4624534" w="14316670">
                <a:moveTo>
                  <a:pt x="0" y="0"/>
                </a:moveTo>
                <a:lnTo>
                  <a:pt x="14316670" y="0"/>
                </a:lnTo>
                <a:lnTo>
                  <a:pt x="14316670" y="4624534"/>
                </a:lnTo>
                <a:lnTo>
                  <a:pt x="0" y="4624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530744" y="0"/>
            <a:ext cx="4961271" cy="4961271"/>
          </a:xfrm>
          <a:custGeom>
            <a:avLst/>
            <a:gdLst/>
            <a:ahLst/>
            <a:cxnLst/>
            <a:rect r="r" b="b" t="t" l="l"/>
            <a:pathLst>
              <a:path h="4961271" w="4961271">
                <a:moveTo>
                  <a:pt x="0" y="0"/>
                </a:moveTo>
                <a:lnTo>
                  <a:pt x="4961271" y="0"/>
                </a:lnTo>
                <a:lnTo>
                  <a:pt x="4961271"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0">
            <a:off x="4430527" y="0"/>
            <a:ext cx="4961271" cy="4961271"/>
          </a:xfrm>
          <a:custGeom>
            <a:avLst/>
            <a:gdLst/>
            <a:ahLst/>
            <a:cxnLst/>
            <a:rect r="r" b="b" t="t" l="l"/>
            <a:pathLst>
              <a:path h="4961271" w="4961271">
                <a:moveTo>
                  <a:pt x="0" y="0"/>
                </a:moveTo>
                <a:lnTo>
                  <a:pt x="4961272" y="0"/>
                </a:lnTo>
                <a:lnTo>
                  <a:pt x="4961272"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9391799" y="0"/>
            <a:ext cx="4961271" cy="4961271"/>
          </a:xfrm>
          <a:custGeom>
            <a:avLst/>
            <a:gdLst/>
            <a:ahLst/>
            <a:cxnLst/>
            <a:rect r="r" b="b" t="t" l="l"/>
            <a:pathLst>
              <a:path h="4961271" w="4961271">
                <a:moveTo>
                  <a:pt x="0" y="0"/>
                </a:moveTo>
                <a:lnTo>
                  <a:pt x="4961271" y="0"/>
                </a:lnTo>
                <a:lnTo>
                  <a:pt x="4961271"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4353070" y="0"/>
            <a:ext cx="4961271" cy="4961271"/>
          </a:xfrm>
          <a:custGeom>
            <a:avLst/>
            <a:gdLst/>
            <a:ahLst/>
            <a:cxnLst/>
            <a:rect r="r" b="b" t="t" l="l"/>
            <a:pathLst>
              <a:path h="4961271" w="4961271">
                <a:moveTo>
                  <a:pt x="0" y="0"/>
                </a:moveTo>
                <a:lnTo>
                  <a:pt x="4961272" y="0"/>
                </a:lnTo>
                <a:lnTo>
                  <a:pt x="4961272"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0">
            <a:off x="1028700" y="1028700"/>
            <a:ext cx="11926957" cy="8229600"/>
          </a:xfrm>
          <a:custGeom>
            <a:avLst/>
            <a:gdLst/>
            <a:ahLst/>
            <a:cxnLst/>
            <a:rect r="r" b="b" t="t" l="l"/>
            <a:pathLst>
              <a:path h="8229600" w="11926957">
                <a:moveTo>
                  <a:pt x="0" y="0"/>
                </a:moveTo>
                <a:lnTo>
                  <a:pt x="11926957" y="0"/>
                </a:lnTo>
                <a:lnTo>
                  <a:pt x="11926957" y="8229600"/>
                </a:lnTo>
                <a:lnTo>
                  <a:pt x="0" y="82296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5332343" y="1028700"/>
            <a:ext cx="11926957" cy="8229600"/>
          </a:xfrm>
          <a:custGeom>
            <a:avLst/>
            <a:gdLst/>
            <a:ahLst/>
            <a:cxnLst/>
            <a:rect r="r" b="b" t="t" l="l"/>
            <a:pathLst>
              <a:path h="8229600" w="11926957">
                <a:moveTo>
                  <a:pt x="0" y="0"/>
                </a:moveTo>
                <a:lnTo>
                  <a:pt x="11926957" y="0"/>
                </a:lnTo>
                <a:lnTo>
                  <a:pt x="11926957" y="8229600"/>
                </a:lnTo>
                <a:lnTo>
                  <a:pt x="0" y="82296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6159324" y="2480636"/>
            <a:ext cx="1348763" cy="1186911"/>
          </a:xfrm>
          <a:custGeom>
            <a:avLst/>
            <a:gdLst/>
            <a:ahLst/>
            <a:cxnLst/>
            <a:rect r="r" b="b" t="t" l="l"/>
            <a:pathLst>
              <a:path h="1186911" w="1348763">
                <a:moveTo>
                  <a:pt x="0" y="0"/>
                </a:moveTo>
                <a:lnTo>
                  <a:pt x="1348763" y="0"/>
                </a:lnTo>
                <a:lnTo>
                  <a:pt x="1348763" y="1186911"/>
                </a:lnTo>
                <a:lnTo>
                  <a:pt x="0" y="118691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1" id="11"/>
          <p:cNvSpPr/>
          <p:nvPr/>
        </p:nvSpPr>
        <p:spPr>
          <a:xfrm flipH="false" flipV="false" rot="0">
            <a:off x="712258" y="6746815"/>
            <a:ext cx="982693" cy="949527"/>
          </a:xfrm>
          <a:custGeom>
            <a:avLst/>
            <a:gdLst/>
            <a:ahLst/>
            <a:cxnLst/>
            <a:rect r="r" b="b" t="t" l="l"/>
            <a:pathLst>
              <a:path h="949527" w="982693">
                <a:moveTo>
                  <a:pt x="0" y="0"/>
                </a:moveTo>
                <a:lnTo>
                  <a:pt x="982692" y="0"/>
                </a:lnTo>
                <a:lnTo>
                  <a:pt x="982692" y="949527"/>
                </a:lnTo>
                <a:lnTo>
                  <a:pt x="0" y="9495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2" id="12"/>
          <p:cNvSpPr/>
          <p:nvPr/>
        </p:nvSpPr>
        <p:spPr>
          <a:xfrm flipH="false" flipV="false" rot="0">
            <a:off x="4030323" y="3333782"/>
            <a:ext cx="1174604" cy="1107065"/>
          </a:xfrm>
          <a:custGeom>
            <a:avLst/>
            <a:gdLst/>
            <a:ahLst/>
            <a:cxnLst/>
            <a:rect r="r" b="b" t="t" l="l"/>
            <a:pathLst>
              <a:path h="1107065" w="1174604">
                <a:moveTo>
                  <a:pt x="0" y="0"/>
                </a:moveTo>
                <a:lnTo>
                  <a:pt x="1174605" y="0"/>
                </a:lnTo>
                <a:lnTo>
                  <a:pt x="1174605" y="1107065"/>
                </a:lnTo>
                <a:lnTo>
                  <a:pt x="0" y="110706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4030323" y="5895439"/>
            <a:ext cx="1174604" cy="1107065"/>
          </a:xfrm>
          <a:custGeom>
            <a:avLst/>
            <a:gdLst/>
            <a:ahLst/>
            <a:cxnLst/>
            <a:rect r="r" b="b" t="t" l="l"/>
            <a:pathLst>
              <a:path h="1107065" w="1174604">
                <a:moveTo>
                  <a:pt x="0" y="0"/>
                </a:moveTo>
                <a:lnTo>
                  <a:pt x="1174605" y="0"/>
                </a:lnTo>
                <a:lnTo>
                  <a:pt x="1174605" y="1107064"/>
                </a:lnTo>
                <a:lnTo>
                  <a:pt x="0" y="110706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4" id="14"/>
          <p:cNvSpPr/>
          <p:nvPr/>
        </p:nvSpPr>
        <p:spPr>
          <a:xfrm flipH="false" flipV="false" rot="0">
            <a:off x="8556698" y="3333782"/>
            <a:ext cx="1174604" cy="1107065"/>
          </a:xfrm>
          <a:custGeom>
            <a:avLst/>
            <a:gdLst/>
            <a:ahLst/>
            <a:cxnLst/>
            <a:rect r="r" b="b" t="t" l="l"/>
            <a:pathLst>
              <a:path h="1107065" w="1174604">
                <a:moveTo>
                  <a:pt x="0" y="0"/>
                </a:moveTo>
                <a:lnTo>
                  <a:pt x="1174604" y="0"/>
                </a:lnTo>
                <a:lnTo>
                  <a:pt x="1174604" y="1107065"/>
                </a:lnTo>
                <a:lnTo>
                  <a:pt x="0" y="110706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5" id="15"/>
          <p:cNvSpPr/>
          <p:nvPr/>
        </p:nvSpPr>
        <p:spPr>
          <a:xfrm flipH="false" flipV="false" rot="0">
            <a:off x="8556698" y="5895439"/>
            <a:ext cx="1174604" cy="1107065"/>
          </a:xfrm>
          <a:custGeom>
            <a:avLst/>
            <a:gdLst/>
            <a:ahLst/>
            <a:cxnLst/>
            <a:rect r="r" b="b" t="t" l="l"/>
            <a:pathLst>
              <a:path h="1107065" w="1174604">
                <a:moveTo>
                  <a:pt x="0" y="0"/>
                </a:moveTo>
                <a:lnTo>
                  <a:pt x="1174604" y="0"/>
                </a:lnTo>
                <a:lnTo>
                  <a:pt x="1174604" y="1107064"/>
                </a:lnTo>
                <a:lnTo>
                  <a:pt x="0" y="110706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6" id="16"/>
          <p:cNvSpPr/>
          <p:nvPr/>
        </p:nvSpPr>
        <p:spPr>
          <a:xfrm flipH="false" flipV="false" rot="0">
            <a:off x="13083072" y="3333782"/>
            <a:ext cx="1174604" cy="1107065"/>
          </a:xfrm>
          <a:custGeom>
            <a:avLst/>
            <a:gdLst/>
            <a:ahLst/>
            <a:cxnLst/>
            <a:rect r="r" b="b" t="t" l="l"/>
            <a:pathLst>
              <a:path h="1107065" w="1174604">
                <a:moveTo>
                  <a:pt x="0" y="0"/>
                </a:moveTo>
                <a:lnTo>
                  <a:pt x="1174605" y="0"/>
                </a:lnTo>
                <a:lnTo>
                  <a:pt x="1174605" y="1107065"/>
                </a:lnTo>
                <a:lnTo>
                  <a:pt x="0" y="110706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7" id="17"/>
          <p:cNvSpPr/>
          <p:nvPr/>
        </p:nvSpPr>
        <p:spPr>
          <a:xfrm flipH="false" flipV="false" rot="0">
            <a:off x="13083072" y="5895439"/>
            <a:ext cx="1174604" cy="1107065"/>
          </a:xfrm>
          <a:custGeom>
            <a:avLst/>
            <a:gdLst/>
            <a:ahLst/>
            <a:cxnLst/>
            <a:rect r="r" b="b" t="t" l="l"/>
            <a:pathLst>
              <a:path h="1107065" w="1174604">
                <a:moveTo>
                  <a:pt x="0" y="0"/>
                </a:moveTo>
                <a:lnTo>
                  <a:pt x="1174605" y="0"/>
                </a:lnTo>
                <a:lnTo>
                  <a:pt x="1174605" y="1107064"/>
                </a:lnTo>
                <a:lnTo>
                  <a:pt x="0" y="110706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8" id="18"/>
          <p:cNvSpPr/>
          <p:nvPr/>
        </p:nvSpPr>
        <p:spPr>
          <a:xfrm flipH="false" flipV="false" rot="-679291">
            <a:off x="2074942" y="1052292"/>
            <a:ext cx="370268" cy="1310684"/>
          </a:xfrm>
          <a:custGeom>
            <a:avLst/>
            <a:gdLst/>
            <a:ahLst/>
            <a:cxnLst/>
            <a:rect r="r" b="b" t="t" l="l"/>
            <a:pathLst>
              <a:path h="1310684" w="370268">
                <a:moveTo>
                  <a:pt x="0" y="0"/>
                </a:moveTo>
                <a:lnTo>
                  <a:pt x="370268" y="0"/>
                </a:lnTo>
                <a:lnTo>
                  <a:pt x="370268" y="1310684"/>
                </a:lnTo>
                <a:lnTo>
                  <a:pt x="0" y="131068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9" id="19"/>
          <p:cNvSpPr/>
          <p:nvPr/>
        </p:nvSpPr>
        <p:spPr>
          <a:xfrm flipH="false" flipV="false" rot="0">
            <a:off x="15704109" y="7592987"/>
            <a:ext cx="1555191" cy="1652261"/>
          </a:xfrm>
          <a:custGeom>
            <a:avLst/>
            <a:gdLst/>
            <a:ahLst/>
            <a:cxnLst/>
            <a:rect r="r" b="b" t="t" l="l"/>
            <a:pathLst>
              <a:path h="1652261" w="1555191">
                <a:moveTo>
                  <a:pt x="0" y="0"/>
                </a:moveTo>
                <a:lnTo>
                  <a:pt x="1555191" y="0"/>
                </a:lnTo>
                <a:lnTo>
                  <a:pt x="1555191" y="1652262"/>
                </a:lnTo>
                <a:lnTo>
                  <a:pt x="0" y="165226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TextBox 20" id="20"/>
          <p:cNvSpPr txBox="true"/>
          <p:nvPr/>
        </p:nvSpPr>
        <p:spPr>
          <a:xfrm rot="0">
            <a:off x="4030323" y="1871052"/>
            <a:ext cx="10227354" cy="1095342"/>
          </a:xfrm>
          <a:prstGeom prst="rect">
            <a:avLst/>
          </a:prstGeom>
        </p:spPr>
        <p:txBody>
          <a:bodyPr anchor="t" rtlCol="false" tIns="0" lIns="0" bIns="0" rIns="0">
            <a:spAutoFit/>
          </a:bodyPr>
          <a:lstStyle/>
          <a:p>
            <a:pPr algn="ctr">
              <a:lnSpc>
                <a:spcPts val="7679"/>
              </a:lnSpc>
            </a:pPr>
            <a:r>
              <a:rPr lang="en-US" sz="6399">
                <a:solidFill>
                  <a:srgbClr val="000000"/>
                </a:solidFill>
                <a:latin typeface="ITC Motter Corpus Semicondensed"/>
                <a:ea typeface="ITC Motter Corpus Semicondensed"/>
                <a:cs typeface="ITC Motter Corpus Semicondensed"/>
                <a:sym typeface="ITC Motter Corpus Semicondensed"/>
              </a:rPr>
              <a:t>TABLE OF CONTENT</a:t>
            </a:r>
          </a:p>
        </p:txBody>
      </p:sp>
      <p:sp>
        <p:nvSpPr>
          <p:cNvPr name="TextBox 21" id="21"/>
          <p:cNvSpPr txBox="true"/>
          <p:nvPr/>
        </p:nvSpPr>
        <p:spPr>
          <a:xfrm rot="0">
            <a:off x="4065983" y="3592023"/>
            <a:ext cx="1171110" cy="523908"/>
          </a:xfrm>
          <a:prstGeom prst="rect">
            <a:avLst/>
          </a:prstGeom>
        </p:spPr>
        <p:txBody>
          <a:bodyPr anchor="t" rtlCol="false" tIns="0" lIns="0" bIns="0" rIns="0">
            <a:spAutoFit/>
          </a:bodyPr>
          <a:lstStyle/>
          <a:p>
            <a:pPr algn="ctr">
              <a:lnSpc>
                <a:spcPts val="3600"/>
              </a:lnSpc>
            </a:pPr>
            <a:r>
              <a:rPr lang="en-US" sz="3000">
                <a:solidFill>
                  <a:srgbClr val="000000"/>
                </a:solidFill>
                <a:latin typeface="ITC Motter Corpus Semicondensed"/>
                <a:ea typeface="ITC Motter Corpus Semicondensed"/>
                <a:cs typeface="ITC Motter Corpus Semicondensed"/>
                <a:sym typeface="ITC Motter Corpus Semicondensed"/>
              </a:rPr>
              <a:t>01</a:t>
            </a:r>
          </a:p>
        </p:txBody>
      </p:sp>
      <p:sp>
        <p:nvSpPr>
          <p:cNvPr name="TextBox 22" id="22"/>
          <p:cNvSpPr txBox="true"/>
          <p:nvPr/>
        </p:nvSpPr>
        <p:spPr>
          <a:xfrm rot="0">
            <a:off x="4065983" y="6153679"/>
            <a:ext cx="1171110" cy="523908"/>
          </a:xfrm>
          <a:prstGeom prst="rect">
            <a:avLst/>
          </a:prstGeom>
        </p:spPr>
        <p:txBody>
          <a:bodyPr anchor="t" rtlCol="false" tIns="0" lIns="0" bIns="0" rIns="0">
            <a:spAutoFit/>
          </a:bodyPr>
          <a:lstStyle/>
          <a:p>
            <a:pPr algn="ctr">
              <a:lnSpc>
                <a:spcPts val="3600"/>
              </a:lnSpc>
            </a:pPr>
            <a:r>
              <a:rPr lang="en-US" sz="3000">
                <a:solidFill>
                  <a:srgbClr val="000000"/>
                </a:solidFill>
                <a:latin typeface="ITC Motter Corpus Semicondensed"/>
                <a:ea typeface="ITC Motter Corpus Semicondensed"/>
                <a:cs typeface="ITC Motter Corpus Semicondensed"/>
                <a:sym typeface="ITC Motter Corpus Semicondensed"/>
              </a:rPr>
              <a:t>04</a:t>
            </a:r>
          </a:p>
        </p:txBody>
      </p:sp>
      <p:sp>
        <p:nvSpPr>
          <p:cNvPr name="TextBox 23" id="23"/>
          <p:cNvSpPr txBox="true"/>
          <p:nvPr/>
        </p:nvSpPr>
        <p:spPr>
          <a:xfrm rot="0">
            <a:off x="8560192" y="3592023"/>
            <a:ext cx="1171110" cy="523908"/>
          </a:xfrm>
          <a:prstGeom prst="rect">
            <a:avLst/>
          </a:prstGeom>
        </p:spPr>
        <p:txBody>
          <a:bodyPr anchor="t" rtlCol="false" tIns="0" lIns="0" bIns="0" rIns="0">
            <a:spAutoFit/>
          </a:bodyPr>
          <a:lstStyle/>
          <a:p>
            <a:pPr algn="ctr">
              <a:lnSpc>
                <a:spcPts val="3600"/>
              </a:lnSpc>
            </a:pPr>
            <a:r>
              <a:rPr lang="en-US" sz="3000">
                <a:solidFill>
                  <a:srgbClr val="000000"/>
                </a:solidFill>
                <a:latin typeface="ITC Motter Corpus Semicondensed"/>
                <a:ea typeface="ITC Motter Corpus Semicondensed"/>
                <a:cs typeface="ITC Motter Corpus Semicondensed"/>
                <a:sym typeface="ITC Motter Corpus Semicondensed"/>
              </a:rPr>
              <a:t>02</a:t>
            </a:r>
          </a:p>
        </p:txBody>
      </p:sp>
      <p:sp>
        <p:nvSpPr>
          <p:cNvPr name="TextBox 24" id="24"/>
          <p:cNvSpPr txBox="true"/>
          <p:nvPr/>
        </p:nvSpPr>
        <p:spPr>
          <a:xfrm rot="0">
            <a:off x="8560192" y="6153679"/>
            <a:ext cx="1171110" cy="523908"/>
          </a:xfrm>
          <a:prstGeom prst="rect">
            <a:avLst/>
          </a:prstGeom>
        </p:spPr>
        <p:txBody>
          <a:bodyPr anchor="t" rtlCol="false" tIns="0" lIns="0" bIns="0" rIns="0">
            <a:spAutoFit/>
          </a:bodyPr>
          <a:lstStyle/>
          <a:p>
            <a:pPr algn="ctr">
              <a:lnSpc>
                <a:spcPts val="3600"/>
              </a:lnSpc>
            </a:pPr>
            <a:r>
              <a:rPr lang="en-US" sz="3000">
                <a:solidFill>
                  <a:srgbClr val="000000"/>
                </a:solidFill>
                <a:latin typeface="ITC Motter Corpus Semicondensed"/>
                <a:ea typeface="ITC Motter Corpus Semicondensed"/>
                <a:cs typeface="ITC Motter Corpus Semicondensed"/>
                <a:sym typeface="ITC Motter Corpus Semicondensed"/>
              </a:rPr>
              <a:t>05</a:t>
            </a:r>
          </a:p>
        </p:txBody>
      </p:sp>
      <p:sp>
        <p:nvSpPr>
          <p:cNvPr name="TextBox 25" id="25"/>
          <p:cNvSpPr txBox="true"/>
          <p:nvPr/>
        </p:nvSpPr>
        <p:spPr>
          <a:xfrm rot="0">
            <a:off x="13086567" y="3592023"/>
            <a:ext cx="1171110" cy="523908"/>
          </a:xfrm>
          <a:prstGeom prst="rect">
            <a:avLst/>
          </a:prstGeom>
        </p:spPr>
        <p:txBody>
          <a:bodyPr anchor="t" rtlCol="false" tIns="0" lIns="0" bIns="0" rIns="0">
            <a:spAutoFit/>
          </a:bodyPr>
          <a:lstStyle/>
          <a:p>
            <a:pPr algn="ctr">
              <a:lnSpc>
                <a:spcPts val="3600"/>
              </a:lnSpc>
            </a:pPr>
            <a:r>
              <a:rPr lang="en-US" sz="3000">
                <a:solidFill>
                  <a:srgbClr val="000000"/>
                </a:solidFill>
                <a:latin typeface="ITC Motter Corpus Semicondensed"/>
                <a:ea typeface="ITC Motter Corpus Semicondensed"/>
                <a:cs typeface="ITC Motter Corpus Semicondensed"/>
                <a:sym typeface="ITC Motter Corpus Semicondensed"/>
              </a:rPr>
              <a:t>03</a:t>
            </a:r>
          </a:p>
        </p:txBody>
      </p:sp>
      <p:sp>
        <p:nvSpPr>
          <p:cNvPr name="TextBox 26" id="26"/>
          <p:cNvSpPr txBox="true"/>
          <p:nvPr/>
        </p:nvSpPr>
        <p:spPr>
          <a:xfrm rot="0">
            <a:off x="13086567" y="6153679"/>
            <a:ext cx="1171110" cy="523908"/>
          </a:xfrm>
          <a:prstGeom prst="rect">
            <a:avLst/>
          </a:prstGeom>
        </p:spPr>
        <p:txBody>
          <a:bodyPr anchor="t" rtlCol="false" tIns="0" lIns="0" bIns="0" rIns="0">
            <a:spAutoFit/>
          </a:bodyPr>
          <a:lstStyle/>
          <a:p>
            <a:pPr algn="ctr">
              <a:lnSpc>
                <a:spcPts val="3600"/>
              </a:lnSpc>
            </a:pPr>
            <a:r>
              <a:rPr lang="en-US" sz="3000">
                <a:solidFill>
                  <a:srgbClr val="000000"/>
                </a:solidFill>
                <a:latin typeface="ITC Motter Corpus Semicondensed"/>
                <a:ea typeface="ITC Motter Corpus Semicondensed"/>
                <a:cs typeface="ITC Motter Corpus Semicondensed"/>
                <a:sym typeface="ITC Motter Corpus Semicondensed"/>
              </a:rPr>
              <a:t>06</a:t>
            </a:r>
          </a:p>
        </p:txBody>
      </p:sp>
      <p:sp>
        <p:nvSpPr>
          <p:cNvPr name="TextBox 27" id="27"/>
          <p:cNvSpPr txBox="true"/>
          <p:nvPr/>
        </p:nvSpPr>
        <p:spPr>
          <a:xfrm rot="0">
            <a:off x="2986782" y="4611029"/>
            <a:ext cx="3329512" cy="371409"/>
          </a:xfrm>
          <a:prstGeom prst="rect">
            <a:avLst/>
          </a:prstGeom>
        </p:spPr>
        <p:txBody>
          <a:bodyPr anchor="t" rtlCol="false" tIns="0" lIns="0" bIns="0" rIns="0">
            <a:spAutoFit/>
          </a:bodyPr>
          <a:lstStyle/>
          <a:p>
            <a:pPr algn="ctr">
              <a:lnSpc>
                <a:spcPts val="2999"/>
              </a:lnSpc>
            </a:pPr>
            <a:r>
              <a:rPr lang="en-US" b="true" sz="2499">
                <a:solidFill>
                  <a:srgbClr val="000000"/>
                </a:solidFill>
                <a:latin typeface="Nunito Bold"/>
                <a:ea typeface="Nunito Bold"/>
                <a:cs typeface="Nunito Bold"/>
                <a:sym typeface="Nunito Bold"/>
              </a:rPr>
              <a:t>INTRODUCTION</a:t>
            </a:r>
          </a:p>
        </p:txBody>
      </p:sp>
      <p:sp>
        <p:nvSpPr>
          <p:cNvPr name="TextBox 28" id="28"/>
          <p:cNvSpPr txBox="true"/>
          <p:nvPr/>
        </p:nvSpPr>
        <p:spPr>
          <a:xfrm rot="0">
            <a:off x="2986782" y="7221578"/>
            <a:ext cx="3329512" cy="1114227"/>
          </a:xfrm>
          <a:prstGeom prst="rect">
            <a:avLst/>
          </a:prstGeom>
        </p:spPr>
        <p:txBody>
          <a:bodyPr anchor="t" rtlCol="false" tIns="0" lIns="0" bIns="0" rIns="0">
            <a:spAutoFit/>
          </a:bodyPr>
          <a:lstStyle/>
          <a:p>
            <a:pPr algn="ctr">
              <a:lnSpc>
                <a:spcPts val="2999"/>
              </a:lnSpc>
            </a:pPr>
            <a:r>
              <a:rPr lang="en-US" b="true" sz="2499">
                <a:solidFill>
                  <a:srgbClr val="000000"/>
                </a:solidFill>
                <a:latin typeface="Nunito Bold"/>
                <a:ea typeface="Nunito Bold"/>
                <a:cs typeface="Nunito Bold"/>
                <a:sym typeface="Nunito Bold"/>
              </a:rPr>
              <a:t>THE HEART OF ELDER CARE SERVICES</a:t>
            </a:r>
          </a:p>
        </p:txBody>
      </p:sp>
      <p:sp>
        <p:nvSpPr>
          <p:cNvPr name="TextBox 29" id="29"/>
          <p:cNvSpPr txBox="true"/>
          <p:nvPr/>
        </p:nvSpPr>
        <p:spPr>
          <a:xfrm rot="0">
            <a:off x="7173074" y="4611029"/>
            <a:ext cx="3941853" cy="1114227"/>
          </a:xfrm>
          <a:prstGeom prst="rect">
            <a:avLst/>
          </a:prstGeom>
        </p:spPr>
        <p:txBody>
          <a:bodyPr anchor="t" rtlCol="false" tIns="0" lIns="0" bIns="0" rIns="0">
            <a:spAutoFit/>
          </a:bodyPr>
          <a:lstStyle/>
          <a:p>
            <a:pPr algn="ctr">
              <a:lnSpc>
                <a:spcPts val="2999"/>
              </a:lnSpc>
            </a:pPr>
            <a:r>
              <a:rPr lang="en-US" b="true" sz="2499">
                <a:solidFill>
                  <a:srgbClr val="000000"/>
                </a:solidFill>
                <a:latin typeface="Nunito Bold"/>
                <a:ea typeface="Nunito Bold"/>
                <a:cs typeface="Nunito Bold"/>
                <a:sym typeface="Nunito Bold"/>
              </a:rPr>
              <a:t>UNDERSTANDING THE CHALLENGES IN ELDER CARE</a:t>
            </a:r>
          </a:p>
        </p:txBody>
      </p:sp>
      <p:sp>
        <p:nvSpPr>
          <p:cNvPr name="TextBox 30" id="30"/>
          <p:cNvSpPr txBox="true"/>
          <p:nvPr/>
        </p:nvSpPr>
        <p:spPr>
          <a:xfrm rot="0">
            <a:off x="7479244" y="7221578"/>
            <a:ext cx="3329512" cy="742818"/>
          </a:xfrm>
          <a:prstGeom prst="rect">
            <a:avLst/>
          </a:prstGeom>
        </p:spPr>
        <p:txBody>
          <a:bodyPr anchor="t" rtlCol="false" tIns="0" lIns="0" bIns="0" rIns="0">
            <a:spAutoFit/>
          </a:bodyPr>
          <a:lstStyle/>
          <a:p>
            <a:pPr algn="ctr">
              <a:lnSpc>
                <a:spcPts val="2999"/>
              </a:lnSpc>
            </a:pPr>
            <a:r>
              <a:rPr lang="en-US" b="true" sz="2499">
                <a:solidFill>
                  <a:srgbClr val="000000"/>
                </a:solidFill>
                <a:latin typeface="Nunito Bold"/>
                <a:ea typeface="Nunito Bold"/>
                <a:cs typeface="Nunito Bold"/>
                <a:sym typeface="Nunito Bold"/>
              </a:rPr>
              <a:t>TAILORING CARE TO INDIVIDUAL NEEDS</a:t>
            </a:r>
          </a:p>
        </p:txBody>
      </p:sp>
      <p:sp>
        <p:nvSpPr>
          <p:cNvPr name="TextBox 31" id="31"/>
          <p:cNvSpPr txBox="true"/>
          <p:nvPr/>
        </p:nvSpPr>
        <p:spPr>
          <a:xfrm rot="0">
            <a:off x="11629515" y="4611029"/>
            <a:ext cx="4013893" cy="742818"/>
          </a:xfrm>
          <a:prstGeom prst="rect">
            <a:avLst/>
          </a:prstGeom>
        </p:spPr>
        <p:txBody>
          <a:bodyPr anchor="t" rtlCol="false" tIns="0" lIns="0" bIns="0" rIns="0">
            <a:spAutoFit/>
          </a:bodyPr>
          <a:lstStyle/>
          <a:p>
            <a:pPr algn="ctr">
              <a:lnSpc>
                <a:spcPts val="2999"/>
              </a:lnSpc>
            </a:pPr>
            <a:r>
              <a:rPr lang="en-US" b="true" sz="2499">
                <a:solidFill>
                  <a:srgbClr val="000000"/>
                </a:solidFill>
                <a:latin typeface="Nunito Bold"/>
                <a:ea typeface="Nunito Bold"/>
                <a:cs typeface="Nunito Bold"/>
                <a:sym typeface="Nunito Bold"/>
              </a:rPr>
              <a:t> COMPREHENSIVE ELDER CARE SOLUTIONS</a:t>
            </a:r>
          </a:p>
        </p:txBody>
      </p:sp>
      <p:sp>
        <p:nvSpPr>
          <p:cNvPr name="TextBox 32" id="32"/>
          <p:cNvSpPr txBox="true"/>
          <p:nvPr/>
        </p:nvSpPr>
        <p:spPr>
          <a:xfrm rot="0">
            <a:off x="11629515" y="7221578"/>
            <a:ext cx="4013893" cy="742818"/>
          </a:xfrm>
          <a:prstGeom prst="rect">
            <a:avLst/>
          </a:prstGeom>
        </p:spPr>
        <p:txBody>
          <a:bodyPr anchor="t" rtlCol="false" tIns="0" lIns="0" bIns="0" rIns="0">
            <a:spAutoFit/>
          </a:bodyPr>
          <a:lstStyle/>
          <a:p>
            <a:pPr algn="ctr">
              <a:lnSpc>
                <a:spcPts val="2999"/>
              </a:lnSpc>
            </a:pPr>
            <a:r>
              <a:rPr lang="en-US" b="true" sz="2499">
                <a:solidFill>
                  <a:srgbClr val="000000"/>
                </a:solidFill>
                <a:latin typeface="Nunito Bold"/>
                <a:ea typeface="Nunito Bold"/>
                <a:cs typeface="Nunito Bold"/>
                <a:sym typeface="Nunito Bold"/>
              </a:rPr>
              <a:t>FINANCIAL PLANNING FOR ELDER CARE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93B170"/>
        </a:solidFill>
      </p:bgPr>
    </p:bg>
    <p:spTree>
      <p:nvGrpSpPr>
        <p:cNvPr id="1" name=""/>
        <p:cNvGrpSpPr/>
        <p:nvPr/>
      </p:nvGrpSpPr>
      <p:grpSpPr>
        <a:xfrm>
          <a:off x="0" y="0"/>
          <a:ext cx="0" cy="0"/>
          <a:chOff x="0" y="0"/>
          <a:chExt cx="0" cy="0"/>
        </a:xfrm>
      </p:grpSpPr>
      <p:sp>
        <p:nvSpPr>
          <p:cNvPr name="Freeform 2" id="2"/>
          <p:cNvSpPr/>
          <p:nvPr/>
        </p:nvSpPr>
        <p:spPr>
          <a:xfrm flipH="false" flipV="false" rot="0">
            <a:off x="-3666301" y="5684195"/>
            <a:ext cx="14316670" cy="4624534"/>
          </a:xfrm>
          <a:custGeom>
            <a:avLst/>
            <a:gdLst/>
            <a:ahLst/>
            <a:cxnLst/>
            <a:rect r="r" b="b" t="t" l="l"/>
            <a:pathLst>
              <a:path h="4624534" w="14316670">
                <a:moveTo>
                  <a:pt x="0" y="0"/>
                </a:moveTo>
                <a:lnTo>
                  <a:pt x="14316670" y="0"/>
                </a:lnTo>
                <a:lnTo>
                  <a:pt x="14316670" y="4624534"/>
                </a:lnTo>
                <a:lnTo>
                  <a:pt x="0" y="4624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53250" y="5684195"/>
            <a:ext cx="14316670" cy="4624534"/>
          </a:xfrm>
          <a:custGeom>
            <a:avLst/>
            <a:gdLst/>
            <a:ahLst/>
            <a:cxnLst/>
            <a:rect r="r" b="b" t="t" l="l"/>
            <a:pathLst>
              <a:path h="4624534" w="14316670">
                <a:moveTo>
                  <a:pt x="0" y="0"/>
                </a:moveTo>
                <a:lnTo>
                  <a:pt x="14316670" y="0"/>
                </a:lnTo>
                <a:lnTo>
                  <a:pt x="14316670" y="4624534"/>
                </a:lnTo>
                <a:lnTo>
                  <a:pt x="0" y="4624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530744" y="0"/>
            <a:ext cx="4961271" cy="4961271"/>
          </a:xfrm>
          <a:custGeom>
            <a:avLst/>
            <a:gdLst/>
            <a:ahLst/>
            <a:cxnLst/>
            <a:rect r="r" b="b" t="t" l="l"/>
            <a:pathLst>
              <a:path h="4961271" w="4961271">
                <a:moveTo>
                  <a:pt x="0" y="0"/>
                </a:moveTo>
                <a:lnTo>
                  <a:pt x="4961271" y="0"/>
                </a:lnTo>
                <a:lnTo>
                  <a:pt x="4961271"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0">
            <a:off x="4430527" y="0"/>
            <a:ext cx="4961271" cy="4961271"/>
          </a:xfrm>
          <a:custGeom>
            <a:avLst/>
            <a:gdLst/>
            <a:ahLst/>
            <a:cxnLst/>
            <a:rect r="r" b="b" t="t" l="l"/>
            <a:pathLst>
              <a:path h="4961271" w="4961271">
                <a:moveTo>
                  <a:pt x="0" y="0"/>
                </a:moveTo>
                <a:lnTo>
                  <a:pt x="4961272" y="0"/>
                </a:lnTo>
                <a:lnTo>
                  <a:pt x="4961272"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9391799" y="0"/>
            <a:ext cx="4961271" cy="4961271"/>
          </a:xfrm>
          <a:custGeom>
            <a:avLst/>
            <a:gdLst/>
            <a:ahLst/>
            <a:cxnLst/>
            <a:rect r="r" b="b" t="t" l="l"/>
            <a:pathLst>
              <a:path h="4961271" w="4961271">
                <a:moveTo>
                  <a:pt x="0" y="0"/>
                </a:moveTo>
                <a:lnTo>
                  <a:pt x="4961271" y="0"/>
                </a:lnTo>
                <a:lnTo>
                  <a:pt x="4961271"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4353070" y="0"/>
            <a:ext cx="4961271" cy="4961271"/>
          </a:xfrm>
          <a:custGeom>
            <a:avLst/>
            <a:gdLst/>
            <a:ahLst/>
            <a:cxnLst/>
            <a:rect r="r" b="b" t="t" l="l"/>
            <a:pathLst>
              <a:path h="4961271" w="4961271">
                <a:moveTo>
                  <a:pt x="0" y="0"/>
                </a:moveTo>
                <a:lnTo>
                  <a:pt x="4961272" y="0"/>
                </a:lnTo>
                <a:lnTo>
                  <a:pt x="4961272"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0">
            <a:off x="1028700" y="1028700"/>
            <a:ext cx="11926957" cy="8229600"/>
          </a:xfrm>
          <a:custGeom>
            <a:avLst/>
            <a:gdLst/>
            <a:ahLst/>
            <a:cxnLst/>
            <a:rect r="r" b="b" t="t" l="l"/>
            <a:pathLst>
              <a:path h="8229600" w="11926957">
                <a:moveTo>
                  <a:pt x="0" y="0"/>
                </a:moveTo>
                <a:lnTo>
                  <a:pt x="11926957" y="0"/>
                </a:lnTo>
                <a:lnTo>
                  <a:pt x="11926957" y="8229600"/>
                </a:lnTo>
                <a:lnTo>
                  <a:pt x="0" y="82296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5332343" y="1028700"/>
            <a:ext cx="11926957" cy="8229600"/>
          </a:xfrm>
          <a:custGeom>
            <a:avLst/>
            <a:gdLst/>
            <a:ahLst/>
            <a:cxnLst/>
            <a:rect r="r" b="b" t="t" l="l"/>
            <a:pathLst>
              <a:path h="8229600" w="11926957">
                <a:moveTo>
                  <a:pt x="0" y="0"/>
                </a:moveTo>
                <a:lnTo>
                  <a:pt x="11926957" y="0"/>
                </a:lnTo>
                <a:lnTo>
                  <a:pt x="11926957" y="8229600"/>
                </a:lnTo>
                <a:lnTo>
                  <a:pt x="0" y="82296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0650369" y="2060819"/>
            <a:ext cx="5440933" cy="6165363"/>
          </a:xfrm>
          <a:custGeom>
            <a:avLst/>
            <a:gdLst/>
            <a:ahLst/>
            <a:cxnLst/>
            <a:rect r="r" b="b" t="t" l="l"/>
            <a:pathLst>
              <a:path h="6165363" w="5440933">
                <a:moveTo>
                  <a:pt x="0" y="0"/>
                </a:moveTo>
                <a:lnTo>
                  <a:pt x="5440933" y="0"/>
                </a:lnTo>
                <a:lnTo>
                  <a:pt x="5440933" y="6165362"/>
                </a:lnTo>
                <a:lnTo>
                  <a:pt x="0" y="61653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1949891" y="2028753"/>
            <a:ext cx="6626519" cy="1095342"/>
          </a:xfrm>
          <a:prstGeom prst="rect">
            <a:avLst/>
          </a:prstGeom>
        </p:spPr>
        <p:txBody>
          <a:bodyPr anchor="t" rtlCol="false" tIns="0" lIns="0" bIns="0" rIns="0">
            <a:spAutoFit/>
          </a:bodyPr>
          <a:lstStyle/>
          <a:p>
            <a:pPr algn="l">
              <a:lnSpc>
                <a:spcPts val="7679"/>
              </a:lnSpc>
            </a:pPr>
            <a:r>
              <a:rPr lang="en-US" sz="6399">
                <a:solidFill>
                  <a:srgbClr val="000000"/>
                </a:solidFill>
                <a:latin typeface="ITC Motter Corpus Semicondensed"/>
                <a:ea typeface="ITC Motter Corpus Semicondensed"/>
                <a:cs typeface="ITC Motter Corpus Semicondensed"/>
                <a:sym typeface="ITC Motter Corpus Semicondensed"/>
              </a:rPr>
              <a:t>INTRODUCTION</a:t>
            </a:r>
          </a:p>
        </p:txBody>
      </p:sp>
      <p:sp>
        <p:nvSpPr>
          <p:cNvPr name="TextBox 12" id="12"/>
          <p:cNvSpPr txBox="true"/>
          <p:nvPr/>
        </p:nvSpPr>
        <p:spPr>
          <a:xfrm rot="0">
            <a:off x="1949891" y="3599402"/>
            <a:ext cx="7441907" cy="4366287"/>
          </a:xfrm>
          <a:prstGeom prst="rect">
            <a:avLst/>
          </a:prstGeom>
        </p:spPr>
        <p:txBody>
          <a:bodyPr anchor="t" rtlCol="false" tIns="0" lIns="0" bIns="0" rIns="0">
            <a:spAutoFit/>
          </a:bodyPr>
          <a:lstStyle/>
          <a:p>
            <a:pPr algn="just">
              <a:lnSpc>
                <a:spcPts val="3499"/>
              </a:lnSpc>
            </a:pPr>
            <a:r>
              <a:rPr lang="en-US" sz="2499">
                <a:solidFill>
                  <a:srgbClr val="000000"/>
                </a:solidFill>
                <a:latin typeface="Nunito"/>
                <a:ea typeface="Nunito"/>
                <a:cs typeface="Nunito"/>
                <a:sym typeface="Nunito"/>
              </a:rPr>
              <a:t>With the global population aging rapidly, the need for specialized elder care services is becoming more critical. Elder care solutions provide both physical and emotional support to ensure seniors live with dignity and comfort. This presentation will explore how comprehensive elder care services can improve the quality of life for older adults. The focus of this presentation will be on how comprehensive elder care services can enhance the quality of life for older adults.</a:t>
            </a:r>
          </a:p>
        </p:txBody>
      </p:sp>
      <p:sp>
        <p:nvSpPr>
          <p:cNvPr name="Freeform 13" id="13"/>
          <p:cNvSpPr/>
          <p:nvPr/>
        </p:nvSpPr>
        <p:spPr>
          <a:xfrm flipH="false" flipV="false" rot="0">
            <a:off x="10889742" y="2290117"/>
            <a:ext cx="982693" cy="949527"/>
          </a:xfrm>
          <a:custGeom>
            <a:avLst/>
            <a:gdLst/>
            <a:ahLst/>
            <a:cxnLst/>
            <a:rect r="r" b="b" t="t" l="l"/>
            <a:pathLst>
              <a:path h="949527" w="982693">
                <a:moveTo>
                  <a:pt x="0" y="0"/>
                </a:moveTo>
                <a:lnTo>
                  <a:pt x="982692" y="0"/>
                </a:lnTo>
                <a:lnTo>
                  <a:pt x="982692" y="949526"/>
                </a:lnTo>
                <a:lnTo>
                  <a:pt x="0" y="9495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4" id="14"/>
          <p:cNvSpPr/>
          <p:nvPr/>
        </p:nvSpPr>
        <p:spPr>
          <a:xfrm flipH="false" flipV="false" rot="0">
            <a:off x="16159324" y="3956589"/>
            <a:ext cx="1348763" cy="1186911"/>
          </a:xfrm>
          <a:custGeom>
            <a:avLst/>
            <a:gdLst/>
            <a:ahLst/>
            <a:cxnLst/>
            <a:rect r="r" b="b" t="t" l="l"/>
            <a:pathLst>
              <a:path h="1186911" w="1348763">
                <a:moveTo>
                  <a:pt x="0" y="0"/>
                </a:moveTo>
                <a:lnTo>
                  <a:pt x="1348763" y="0"/>
                </a:lnTo>
                <a:lnTo>
                  <a:pt x="1348763" y="1186911"/>
                </a:lnTo>
                <a:lnTo>
                  <a:pt x="0" y="118691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5" id="15"/>
          <p:cNvSpPr/>
          <p:nvPr/>
        </p:nvSpPr>
        <p:spPr>
          <a:xfrm flipH="false" flipV="false" rot="0">
            <a:off x="15193672" y="8294321"/>
            <a:ext cx="1260103" cy="963979"/>
          </a:xfrm>
          <a:custGeom>
            <a:avLst/>
            <a:gdLst/>
            <a:ahLst/>
            <a:cxnLst/>
            <a:rect r="r" b="b" t="t" l="l"/>
            <a:pathLst>
              <a:path h="963979" w="1260103">
                <a:moveTo>
                  <a:pt x="0" y="0"/>
                </a:moveTo>
                <a:lnTo>
                  <a:pt x="1260103" y="0"/>
                </a:lnTo>
                <a:lnTo>
                  <a:pt x="1260103" y="963979"/>
                </a:lnTo>
                <a:lnTo>
                  <a:pt x="0" y="96397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15648250" y="8025847"/>
            <a:ext cx="1611050" cy="1232453"/>
          </a:xfrm>
          <a:custGeom>
            <a:avLst/>
            <a:gdLst/>
            <a:ahLst/>
            <a:cxnLst/>
            <a:rect r="r" b="b" t="t" l="l"/>
            <a:pathLst>
              <a:path h="1232453" w="1611050">
                <a:moveTo>
                  <a:pt x="0" y="0"/>
                </a:moveTo>
                <a:lnTo>
                  <a:pt x="1611050" y="0"/>
                </a:lnTo>
                <a:lnTo>
                  <a:pt x="1611050" y="1232453"/>
                </a:lnTo>
                <a:lnTo>
                  <a:pt x="0" y="123245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93B170"/>
        </a:solidFill>
      </p:bgPr>
    </p:bg>
    <p:spTree>
      <p:nvGrpSpPr>
        <p:cNvPr id="1" name=""/>
        <p:cNvGrpSpPr/>
        <p:nvPr/>
      </p:nvGrpSpPr>
      <p:grpSpPr>
        <a:xfrm>
          <a:off x="0" y="0"/>
          <a:ext cx="0" cy="0"/>
          <a:chOff x="0" y="0"/>
          <a:chExt cx="0" cy="0"/>
        </a:xfrm>
      </p:grpSpPr>
      <p:sp>
        <p:nvSpPr>
          <p:cNvPr name="Freeform 2" id="2"/>
          <p:cNvSpPr/>
          <p:nvPr/>
        </p:nvSpPr>
        <p:spPr>
          <a:xfrm flipH="false" flipV="false" rot="0">
            <a:off x="-3666301" y="5684195"/>
            <a:ext cx="14316670" cy="4624534"/>
          </a:xfrm>
          <a:custGeom>
            <a:avLst/>
            <a:gdLst/>
            <a:ahLst/>
            <a:cxnLst/>
            <a:rect r="r" b="b" t="t" l="l"/>
            <a:pathLst>
              <a:path h="4624534" w="14316670">
                <a:moveTo>
                  <a:pt x="0" y="0"/>
                </a:moveTo>
                <a:lnTo>
                  <a:pt x="14316670" y="0"/>
                </a:lnTo>
                <a:lnTo>
                  <a:pt x="14316670" y="4624534"/>
                </a:lnTo>
                <a:lnTo>
                  <a:pt x="0" y="4624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53250" y="5684195"/>
            <a:ext cx="14316670" cy="4624534"/>
          </a:xfrm>
          <a:custGeom>
            <a:avLst/>
            <a:gdLst/>
            <a:ahLst/>
            <a:cxnLst/>
            <a:rect r="r" b="b" t="t" l="l"/>
            <a:pathLst>
              <a:path h="4624534" w="14316670">
                <a:moveTo>
                  <a:pt x="0" y="0"/>
                </a:moveTo>
                <a:lnTo>
                  <a:pt x="14316670" y="0"/>
                </a:lnTo>
                <a:lnTo>
                  <a:pt x="14316670" y="4624534"/>
                </a:lnTo>
                <a:lnTo>
                  <a:pt x="0" y="4624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530744" y="0"/>
            <a:ext cx="4961271" cy="4961271"/>
          </a:xfrm>
          <a:custGeom>
            <a:avLst/>
            <a:gdLst/>
            <a:ahLst/>
            <a:cxnLst/>
            <a:rect r="r" b="b" t="t" l="l"/>
            <a:pathLst>
              <a:path h="4961271" w="4961271">
                <a:moveTo>
                  <a:pt x="0" y="0"/>
                </a:moveTo>
                <a:lnTo>
                  <a:pt x="4961271" y="0"/>
                </a:lnTo>
                <a:lnTo>
                  <a:pt x="4961271"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0">
            <a:off x="4430527" y="0"/>
            <a:ext cx="4961271" cy="4961271"/>
          </a:xfrm>
          <a:custGeom>
            <a:avLst/>
            <a:gdLst/>
            <a:ahLst/>
            <a:cxnLst/>
            <a:rect r="r" b="b" t="t" l="l"/>
            <a:pathLst>
              <a:path h="4961271" w="4961271">
                <a:moveTo>
                  <a:pt x="0" y="0"/>
                </a:moveTo>
                <a:lnTo>
                  <a:pt x="4961272" y="0"/>
                </a:lnTo>
                <a:lnTo>
                  <a:pt x="4961272"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9391799" y="0"/>
            <a:ext cx="4961271" cy="4961271"/>
          </a:xfrm>
          <a:custGeom>
            <a:avLst/>
            <a:gdLst/>
            <a:ahLst/>
            <a:cxnLst/>
            <a:rect r="r" b="b" t="t" l="l"/>
            <a:pathLst>
              <a:path h="4961271" w="4961271">
                <a:moveTo>
                  <a:pt x="0" y="0"/>
                </a:moveTo>
                <a:lnTo>
                  <a:pt x="4961271" y="0"/>
                </a:lnTo>
                <a:lnTo>
                  <a:pt x="4961271"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4353070" y="0"/>
            <a:ext cx="4961271" cy="4961271"/>
          </a:xfrm>
          <a:custGeom>
            <a:avLst/>
            <a:gdLst/>
            <a:ahLst/>
            <a:cxnLst/>
            <a:rect r="r" b="b" t="t" l="l"/>
            <a:pathLst>
              <a:path h="4961271" w="4961271">
                <a:moveTo>
                  <a:pt x="0" y="0"/>
                </a:moveTo>
                <a:lnTo>
                  <a:pt x="4961272" y="0"/>
                </a:lnTo>
                <a:lnTo>
                  <a:pt x="4961272"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0">
            <a:off x="1028700" y="1028700"/>
            <a:ext cx="11926957" cy="8229600"/>
          </a:xfrm>
          <a:custGeom>
            <a:avLst/>
            <a:gdLst/>
            <a:ahLst/>
            <a:cxnLst/>
            <a:rect r="r" b="b" t="t" l="l"/>
            <a:pathLst>
              <a:path h="8229600" w="11926957">
                <a:moveTo>
                  <a:pt x="0" y="0"/>
                </a:moveTo>
                <a:lnTo>
                  <a:pt x="11926957" y="0"/>
                </a:lnTo>
                <a:lnTo>
                  <a:pt x="11926957" y="8229600"/>
                </a:lnTo>
                <a:lnTo>
                  <a:pt x="0" y="82296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5332343" y="1028700"/>
            <a:ext cx="11926957" cy="8229600"/>
          </a:xfrm>
          <a:custGeom>
            <a:avLst/>
            <a:gdLst/>
            <a:ahLst/>
            <a:cxnLst/>
            <a:rect r="r" b="b" t="t" l="l"/>
            <a:pathLst>
              <a:path h="8229600" w="11926957">
                <a:moveTo>
                  <a:pt x="0" y="0"/>
                </a:moveTo>
                <a:lnTo>
                  <a:pt x="11926957" y="0"/>
                </a:lnTo>
                <a:lnTo>
                  <a:pt x="11926957" y="8229600"/>
                </a:lnTo>
                <a:lnTo>
                  <a:pt x="0" y="82296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0233770" y="2407027"/>
            <a:ext cx="5846898" cy="1094965"/>
          </a:xfrm>
          <a:custGeom>
            <a:avLst/>
            <a:gdLst/>
            <a:ahLst/>
            <a:cxnLst/>
            <a:rect r="r" b="b" t="t" l="l"/>
            <a:pathLst>
              <a:path h="1094965" w="5846898">
                <a:moveTo>
                  <a:pt x="0" y="0"/>
                </a:moveTo>
                <a:lnTo>
                  <a:pt x="5846898" y="0"/>
                </a:lnTo>
                <a:lnTo>
                  <a:pt x="5846898" y="1094965"/>
                </a:lnTo>
                <a:lnTo>
                  <a:pt x="0" y="10949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0233770" y="3744869"/>
            <a:ext cx="5846898" cy="1094965"/>
          </a:xfrm>
          <a:custGeom>
            <a:avLst/>
            <a:gdLst/>
            <a:ahLst/>
            <a:cxnLst/>
            <a:rect r="r" b="b" t="t" l="l"/>
            <a:pathLst>
              <a:path h="1094965" w="5846898">
                <a:moveTo>
                  <a:pt x="0" y="0"/>
                </a:moveTo>
                <a:lnTo>
                  <a:pt x="5846898" y="0"/>
                </a:lnTo>
                <a:lnTo>
                  <a:pt x="5846898" y="1094964"/>
                </a:lnTo>
                <a:lnTo>
                  <a:pt x="0" y="10949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0233770" y="5082710"/>
            <a:ext cx="5846898" cy="1094965"/>
          </a:xfrm>
          <a:custGeom>
            <a:avLst/>
            <a:gdLst/>
            <a:ahLst/>
            <a:cxnLst/>
            <a:rect r="r" b="b" t="t" l="l"/>
            <a:pathLst>
              <a:path h="1094965" w="5846898">
                <a:moveTo>
                  <a:pt x="0" y="0"/>
                </a:moveTo>
                <a:lnTo>
                  <a:pt x="5846898" y="0"/>
                </a:lnTo>
                <a:lnTo>
                  <a:pt x="5846898" y="1094964"/>
                </a:lnTo>
                <a:lnTo>
                  <a:pt x="0" y="10949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0233770" y="6420551"/>
            <a:ext cx="5846898" cy="1094965"/>
          </a:xfrm>
          <a:custGeom>
            <a:avLst/>
            <a:gdLst/>
            <a:ahLst/>
            <a:cxnLst/>
            <a:rect r="r" b="b" t="t" l="l"/>
            <a:pathLst>
              <a:path h="1094965" w="5846898">
                <a:moveTo>
                  <a:pt x="0" y="0"/>
                </a:moveTo>
                <a:lnTo>
                  <a:pt x="5846898" y="0"/>
                </a:lnTo>
                <a:lnTo>
                  <a:pt x="5846898" y="1094965"/>
                </a:lnTo>
                <a:lnTo>
                  <a:pt x="0" y="10949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679291">
            <a:off x="16320019" y="1146360"/>
            <a:ext cx="370268" cy="1310684"/>
          </a:xfrm>
          <a:custGeom>
            <a:avLst/>
            <a:gdLst/>
            <a:ahLst/>
            <a:cxnLst/>
            <a:rect r="r" b="b" t="t" l="l"/>
            <a:pathLst>
              <a:path h="1310684" w="370268">
                <a:moveTo>
                  <a:pt x="0" y="0"/>
                </a:moveTo>
                <a:lnTo>
                  <a:pt x="370268" y="0"/>
                </a:lnTo>
                <a:lnTo>
                  <a:pt x="370268" y="1310684"/>
                </a:lnTo>
                <a:lnTo>
                  <a:pt x="0" y="131068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1028700" y="8213404"/>
            <a:ext cx="1348763" cy="1186911"/>
          </a:xfrm>
          <a:custGeom>
            <a:avLst/>
            <a:gdLst/>
            <a:ahLst/>
            <a:cxnLst/>
            <a:rect r="r" b="b" t="t" l="l"/>
            <a:pathLst>
              <a:path h="1186911" w="1348763">
                <a:moveTo>
                  <a:pt x="0" y="0"/>
                </a:moveTo>
                <a:lnTo>
                  <a:pt x="1348763" y="0"/>
                </a:lnTo>
                <a:lnTo>
                  <a:pt x="1348763" y="1186911"/>
                </a:lnTo>
                <a:lnTo>
                  <a:pt x="0" y="118691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6" id="16"/>
          <p:cNvSpPr/>
          <p:nvPr/>
        </p:nvSpPr>
        <p:spPr>
          <a:xfrm flipH="false" flipV="false" rot="0">
            <a:off x="16013807" y="8450789"/>
            <a:ext cx="982693" cy="949527"/>
          </a:xfrm>
          <a:custGeom>
            <a:avLst/>
            <a:gdLst/>
            <a:ahLst/>
            <a:cxnLst/>
            <a:rect r="r" b="b" t="t" l="l"/>
            <a:pathLst>
              <a:path h="949527" w="982693">
                <a:moveTo>
                  <a:pt x="0" y="0"/>
                </a:moveTo>
                <a:lnTo>
                  <a:pt x="982692" y="0"/>
                </a:lnTo>
                <a:lnTo>
                  <a:pt x="982692" y="949526"/>
                </a:lnTo>
                <a:lnTo>
                  <a:pt x="0" y="94952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7" id="17"/>
          <p:cNvSpPr/>
          <p:nvPr/>
        </p:nvSpPr>
        <p:spPr>
          <a:xfrm flipH="false" flipV="false" rot="0">
            <a:off x="10543158" y="2632504"/>
            <a:ext cx="404922" cy="644012"/>
          </a:xfrm>
          <a:custGeom>
            <a:avLst/>
            <a:gdLst/>
            <a:ahLst/>
            <a:cxnLst/>
            <a:rect r="r" b="b" t="t" l="l"/>
            <a:pathLst>
              <a:path h="644012" w="404922">
                <a:moveTo>
                  <a:pt x="0" y="0"/>
                </a:moveTo>
                <a:lnTo>
                  <a:pt x="404922" y="0"/>
                </a:lnTo>
                <a:lnTo>
                  <a:pt x="404922" y="644012"/>
                </a:lnTo>
                <a:lnTo>
                  <a:pt x="0" y="64401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8" id="18"/>
          <p:cNvSpPr/>
          <p:nvPr/>
        </p:nvSpPr>
        <p:spPr>
          <a:xfrm flipH="false" flipV="false" rot="0">
            <a:off x="10489695" y="4012652"/>
            <a:ext cx="511849" cy="559398"/>
          </a:xfrm>
          <a:custGeom>
            <a:avLst/>
            <a:gdLst/>
            <a:ahLst/>
            <a:cxnLst/>
            <a:rect r="r" b="b" t="t" l="l"/>
            <a:pathLst>
              <a:path h="559398" w="511849">
                <a:moveTo>
                  <a:pt x="0" y="0"/>
                </a:moveTo>
                <a:lnTo>
                  <a:pt x="511849" y="0"/>
                </a:lnTo>
                <a:lnTo>
                  <a:pt x="511849" y="559398"/>
                </a:lnTo>
                <a:lnTo>
                  <a:pt x="0" y="55939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9" id="19"/>
          <p:cNvSpPr/>
          <p:nvPr/>
        </p:nvSpPr>
        <p:spPr>
          <a:xfrm flipH="false" flipV="false" rot="0">
            <a:off x="10505058" y="5361467"/>
            <a:ext cx="537451" cy="537451"/>
          </a:xfrm>
          <a:custGeom>
            <a:avLst/>
            <a:gdLst/>
            <a:ahLst/>
            <a:cxnLst/>
            <a:rect r="r" b="b" t="t" l="l"/>
            <a:pathLst>
              <a:path h="537451" w="537451">
                <a:moveTo>
                  <a:pt x="0" y="0"/>
                </a:moveTo>
                <a:lnTo>
                  <a:pt x="537451" y="0"/>
                </a:lnTo>
                <a:lnTo>
                  <a:pt x="537451" y="537450"/>
                </a:lnTo>
                <a:lnTo>
                  <a:pt x="0" y="53745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20" id="20"/>
          <p:cNvSpPr/>
          <p:nvPr/>
        </p:nvSpPr>
        <p:spPr>
          <a:xfrm flipH="false" flipV="false" rot="0">
            <a:off x="10505058" y="6663449"/>
            <a:ext cx="656773" cy="613261"/>
          </a:xfrm>
          <a:custGeom>
            <a:avLst/>
            <a:gdLst/>
            <a:ahLst/>
            <a:cxnLst/>
            <a:rect r="r" b="b" t="t" l="l"/>
            <a:pathLst>
              <a:path h="613261" w="656773">
                <a:moveTo>
                  <a:pt x="0" y="0"/>
                </a:moveTo>
                <a:lnTo>
                  <a:pt x="656773" y="0"/>
                </a:lnTo>
                <a:lnTo>
                  <a:pt x="656773" y="613262"/>
                </a:lnTo>
                <a:lnTo>
                  <a:pt x="0" y="613262"/>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TextBox 21" id="21"/>
          <p:cNvSpPr txBox="true"/>
          <p:nvPr/>
        </p:nvSpPr>
        <p:spPr>
          <a:xfrm rot="0">
            <a:off x="1949891" y="2147289"/>
            <a:ext cx="8173810" cy="3038376"/>
          </a:xfrm>
          <a:prstGeom prst="rect">
            <a:avLst/>
          </a:prstGeom>
        </p:spPr>
        <p:txBody>
          <a:bodyPr anchor="t" rtlCol="false" tIns="0" lIns="0" bIns="0" rIns="0">
            <a:spAutoFit/>
          </a:bodyPr>
          <a:lstStyle/>
          <a:p>
            <a:pPr algn="l">
              <a:lnSpc>
                <a:spcPts val="7679"/>
              </a:lnSpc>
            </a:pPr>
            <a:r>
              <a:rPr lang="en-US" sz="6399">
                <a:solidFill>
                  <a:srgbClr val="000000"/>
                </a:solidFill>
                <a:latin typeface="ITC Motter Corpus Semicondensed"/>
                <a:ea typeface="ITC Motter Corpus Semicondensed"/>
                <a:cs typeface="ITC Motter Corpus Semicondensed"/>
                <a:sym typeface="ITC Motter Corpus Semicondensed"/>
              </a:rPr>
              <a:t>UNDERSTANDING THE CHALLENGES IN ELDER CARE</a:t>
            </a:r>
          </a:p>
        </p:txBody>
      </p:sp>
      <p:sp>
        <p:nvSpPr>
          <p:cNvPr name="TextBox 22" id="22"/>
          <p:cNvSpPr txBox="true"/>
          <p:nvPr/>
        </p:nvSpPr>
        <p:spPr>
          <a:xfrm rot="0">
            <a:off x="1949891" y="5476223"/>
            <a:ext cx="7194109" cy="2175206"/>
          </a:xfrm>
          <a:prstGeom prst="rect">
            <a:avLst/>
          </a:prstGeom>
        </p:spPr>
        <p:txBody>
          <a:bodyPr anchor="t" rtlCol="false" tIns="0" lIns="0" bIns="0" rIns="0">
            <a:spAutoFit/>
          </a:bodyPr>
          <a:lstStyle/>
          <a:p>
            <a:pPr algn="just">
              <a:lnSpc>
                <a:spcPts val="3499"/>
              </a:lnSpc>
            </a:pPr>
            <a:r>
              <a:rPr lang="en-US" sz="2499">
                <a:solidFill>
                  <a:srgbClr val="000000"/>
                </a:solidFill>
                <a:latin typeface="Nunito"/>
                <a:ea typeface="Nunito"/>
                <a:cs typeface="Nunito"/>
                <a:sym typeface="Nunito"/>
              </a:rPr>
              <a:t>Elder care presents unique challenges, including managing health conditions, mobility limitations, and mental well-being. Providing comprehensive care requires addressing these challenges while supporting both the elderly and their families.</a:t>
            </a:r>
          </a:p>
        </p:txBody>
      </p:sp>
      <p:sp>
        <p:nvSpPr>
          <p:cNvPr name="TextBox 23" id="23"/>
          <p:cNvSpPr txBox="true"/>
          <p:nvPr/>
        </p:nvSpPr>
        <p:spPr>
          <a:xfrm rot="0">
            <a:off x="11639118" y="2583101"/>
            <a:ext cx="3564904" cy="742818"/>
          </a:xfrm>
          <a:prstGeom prst="rect">
            <a:avLst/>
          </a:prstGeom>
        </p:spPr>
        <p:txBody>
          <a:bodyPr anchor="t" rtlCol="false" tIns="0" lIns="0" bIns="0" rIns="0">
            <a:spAutoFit/>
          </a:bodyPr>
          <a:lstStyle/>
          <a:p>
            <a:pPr algn="l">
              <a:lnSpc>
                <a:spcPts val="2999"/>
              </a:lnSpc>
            </a:pPr>
            <a:r>
              <a:rPr lang="en-US" sz="2499" b="true">
                <a:solidFill>
                  <a:srgbClr val="000000"/>
                </a:solidFill>
                <a:latin typeface="Nunito Bold"/>
                <a:ea typeface="Nunito Bold"/>
                <a:cs typeface="Nunito Bold"/>
                <a:sym typeface="Nunito Bold"/>
              </a:rPr>
              <a:t>HEALTH AND MOBILITY ISSUES</a:t>
            </a:r>
          </a:p>
        </p:txBody>
      </p:sp>
      <p:sp>
        <p:nvSpPr>
          <p:cNvPr name="TextBox 24" id="24"/>
          <p:cNvSpPr txBox="true"/>
          <p:nvPr/>
        </p:nvSpPr>
        <p:spPr>
          <a:xfrm rot="0">
            <a:off x="11639118" y="3920942"/>
            <a:ext cx="3564904" cy="742818"/>
          </a:xfrm>
          <a:prstGeom prst="rect">
            <a:avLst/>
          </a:prstGeom>
        </p:spPr>
        <p:txBody>
          <a:bodyPr anchor="t" rtlCol="false" tIns="0" lIns="0" bIns="0" rIns="0">
            <a:spAutoFit/>
          </a:bodyPr>
          <a:lstStyle/>
          <a:p>
            <a:pPr algn="l">
              <a:lnSpc>
                <a:spcPts val="2999"/>
              </a:lnSpc>
            </a:pPr>
            <a:r>
              <a:rPr lang="en-US" sz="2499" b="true">
                <a:solidFill>
                  <a:srgbClr val="000000"/>
                </a:solidFill>
                <a:latin typeface="Nunito Bold"/>
                <a:ea typeface="Nunito Bold"/>
                <a:cs typeface="Nunito Bold"/>
                <a:sym typeface="Nunito Bold"/>
              </a:rPr>
              <a:t>EMOTIONAL AND MENTAL WELL-BEING</a:t>
            </a:r>
          </a:p>
        </p:txBody>
      </p:sp>
      <p:sp>
        <p:nvSpPr>
          <p:cNvPr name="TextBox 25" id="25"/>
          <p:cNvSpPr txBox="true"/>
          <p:nvPr/>
        </p:nvSpPr>
        <p:spPr>
          <a:xfrm rot="0">
            <a:off x="11639118" y="5444488"/>
            <a:ext cx="3564904" cy="371409"/>
          </a:xfrm>
          <a:prstGeom prst="rect">
            <a:avLst/>
          </a:prstGeom>
        </p:spPr>
        <p:txBody>
          <a:bodyPr anchor="t" rtlCol="false" tIns="0" lIns="0" bIns="0" rIns="0">
            <a:spAutoFit/>
          </a:bodyPr>
          <a:lstStyle/>
          <a:p>
            <a:pPr algn="l">
              <a:lnSpc>
                <a:spcPts val="2999"/>
              </a:lnSpc>
            </a:pPr>
            <a:r>
              <a:rPr lang="en-US" sz="2499" b="true">
                <a:solidFill>
                  <a:srgbClr val="000000"/>
                </a:solidFill>
                <a:latin typeface="Nunito Bold"/>
                <a:ea typeface="Nunito Bold"/>
                <a:cs typeface="Nunito Bold"/>
                <a:sym typeface="Nunito Bold"/>
              </a:rPr>
              <a:t>FAMILY SUPPORT</a:t>
            </a:r>
          </a:p>
        </p:txBody>
      </p:sp>
      <p:sp>
        <p:nvSpPr>
          <p:cNvPr name="TextBox 26" id="26"/>
          <p:cNvSpPr txBox="true"/>
          <p:nvPr/>
        </p:nvSpPr>
        <p:spPr>
          <a:xfrm rot="0">
            <a:off x="11639118" y="6663449"/>
            <a:ext cx="3564904" cy="371409"/>
          </a:xfrm>
          <a:prstGeom prst="rect">
            <a:avLst/>
          </a:prstGeom>
        </p:spPr>
        <p:txBody>
          <a:bodyPr anchor="t" rtlCol="false" tIns="0" lIns="0" bIns="0" rIns="0">
            <a:spAutoFit/>
          </a:bodyPr>
          <a:lstStyle/>
          <a:p>
            <a:pPr algn="l">
              <a:lnSpc>
                <a:spcPts val="2999"/>
              </a:lnSpc>
            </a:pPr>
            <a:r>
              <a:rPr lang="en-US" sz="2499" b="true">
                <a:solidFill>
                  <a:srgbClr val="000000"/>
                </a:solidFill>
                <a:latin typeface="Nunito Bold"/>
                <a:ea typeface="Nunito Bold"/>
                <a:cs typeface="Nunito Bold"/>
                <a:sym typeface="Nunito Bold"/>
              </a:rPr>
              <a:t>FINANCIAL CONCERNS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93B170"/>
        </a:solidFill>
      </p:bgPr>
    </p:bg>
    <p:spTree>
      <p:nvGrpSpPr>
        <p:cNvPr id="1" name=""/>
        <p:cNvGrpSpPr/>
        <p:nvPr/>
      </p:nvGrpSpPr>
      <p:grpSpPr>
        <a:xfrm>
          <a:off x="0" y="0"/>
          <a:ext cx="0" cy="0"/>
          <a:chOff x="0" y="0"/>
          <a:chExt cx="0" cy="0"/>
        </a:xfrm>
      </p:grpSpPr>
      <p:sp>
        <p:nvSpPr>
          <p:cNvPr name="Freeform 2" id="2"/>
          <p:cNvSpPr/>
          <p:nvPr/>
        </p:nvSpPr>
        <p:spPr>
          <a:xfrm flipH="false" flipV="false" rot="0">
            <a:off x="-3666301" y="5684195"/>
            <a:ext cx="14316670" cy="4624534"/>
          </a:xfrm>
          <a:custGeom>
            <a:avLst/>
            <a:gdLst/>
            <a:ahLst/>
            <a:cxnLst/>
            <a:rect r="r" b="b" t="t" l="l"/>
            <a:pathLst>
              <a:path h="4624534" w="14316670">
                <a:moveTo>
                  <a:pt x="0" y="0"/>
                </a:moveTo>
                <a:lnTo>
                  <a:pt x="14316670" y="0"/>
                </a:lnTo>
                <a:lnTo>
                  <a:pt x="14316670" y="4624534"/>
                </a:lnTo>
                <a:lnTo>
                  <a:pt x="0" y="4624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53250" y="5684195"/>
            <a:ext cx="14316670" cy="4624534"/>
          </a:xfrm>
          <a:custGeom>
            <a:avLst/>
            <a:gdLst/>
            <a:ahLst/>
            <a:cxnLst/>
            <a:rect r="r" b="b" t="t" l="l"/>
            <a:pathLst>
              <a:path h="4624534" w="14316670">
                <a:moveTo>
                  <a:pt x="0" y="0"/>
                </a:moveTo>
                <a:lnTo>
                  <a:pt x="14316670" y="0"/>
                </a:lnTo>
                <a:lnTo>
                  <a:pt x="14316670" y="4624534"/>
                </a:lnTo>
                <a:lnTo>
                  <a:pt x="0" y="4624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530744" y="0"/>
            <a:ext cx="4961271" cy="4961271"/>
          </a:xfrm>
          <a:custGeom>
            <a:avLst/>
            <a:gdLst/>
            <a:ahLst/>
            <a:cxnLst/>
            <a:rect r="r" b="b" t="t" l="l"/>
            <a:pathLst>
              <a:path h="4961271" w="4961271">
                <a:moveTo>
                  <a:pt x="0" y="0"/>
                </a:moveTo>
                <a:lnTo>
                  <a:pt x="4961271" y="0"/>
                </a:lnTo>
                <a:lnTo>
                  <a:pt x="4961271"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0">
            <a:off x="4430527" y="0"/>
            <a:ext cx="4961271" cy="4961271"/>
          </a:xfrm>
          <a:custGeom>
            <a:avLst/>
            <a:gdLst/>
            <a:ahLst/>
            <a:cxnLst/>
            <a:rect r="r" b="b" t="t" l="l"/>
            <a:pathLst>
              <a:path h="4961271" w="4961271">
                <a:moveTo>
                  <a:pt x="0" y="0"/>
                </a:moveTo>
                <a:lnTo>
                  <a:pt x="4961272" y="0"/>
                </a:lnTo>
                <a:lnTo>
                  <a:pt x="4961272"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9391799" y="0"/>
            <a:ext cx="4961271" cy="4961271"/>
          </a:xfrm>
          <a:custGeom>
            <a:avLst/>
            <a:gdLst/>
            <a:ahLst/>
            <a:cxnLst/>
            <a:rect r="r" b="b" t="t" l="l"/>
            <a:pathLst>
              <a:path h="4961271" w="4961271">
                <a:moveTo>
                  <a:pt x="0" y="0"/>
                </a:moveTo>
                <a:lnTo>
                  <a:pt x="4961271" y="0"/>
                </a:lnTo>
                <a:lnTo>
                  <a:pt x="4961271"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4353070" y="0"/>
            <a:ext cx="4961271" cy="4961271"/>
          </a:xfrm>
          <a:custGeom>
            <a:avLst/>
            <a:gdLst/>
            <a:ahLst/>
            <a:cxnLst/>
            <a:rect r="r" b="b" t="t" l="l"/>
            <a:pathLst>
              <a:path h="4961271" w="4961271">
                <a:moveTo>
                  <a:pt x="0" y="0"/>
                </a:moveTo>
                <a:lnTo>
                  <a:pt x="4961272" y="0"/>
                </a:lnTo>
                <a:lnTo>
                  <a:pt x="4961272"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0">
            <a:off x="1028700" y="1028700"/>
            <a:ext cx="11926957" cy="8229600"/>
          </a:xfrm>
          <a:custGeom>
            <a:avLst/>
            <a:gdLst/>
            <a:ahLst/>
            <a:cxnLst/>
            <a:rect r="r" b="b" t="t" l="l"/>
            <a:pathLst>
              <a:path h="8229600" w="11926957">
                <a:moveTo>
                  <a:pt x="0" y="0"/>
                </a:moveTo>
                <a:lnTo>
                  <a:pt x="11926957" y="0"/>
                </a:lnTo>
                <a:lnTo>
                  <a:pt x="11926957" y="8229600"/>
                </a:lnTo>
                <a:lnTo>
                  <a:pt x="0" y="82296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5332343" y="1028700"/>
            <a:ext cx="11926957" cy="8229600"/>
          </a:xfrm>
          <a:custGeom>
            <a:avLst/>
            <a:gdLst/>
            <a:ahLst/>
            <a:cxnLst/>
            <a:rect r="r" b="b" t="t" l="l"/>
            <a:pathLst>
              <a:path h="8229600" w="11926957">
                <a:moveTo>
                  <a:pt x="0" y="0"/>
                </a:moveTo>
                <a:lnTo>
                  <a:pt x="11926957" y="0"/>
                </a:lnTo>
                <a:lnTo>
                  <a:pt x="11926957" y="8229600"/>
                </a:lnTo>
                <a:lnTo>
                  <a:pt x="0" y="82296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679291">
            <a:off x="16501181" y="1052292"/>
            <a:ext cx="370268" cy="1310684"/>
          </a:xfrm>
          <a:custGeom>
            <a:avLst/>
            <a:gdLst/>
            <a:ahLst/>
            <a:cxnLst/>
            <a:rect r="r" b="b" t="t" l="l"/>
            <a:pathLst>
              <a:path h="1310684" w="370268">
                <a:moveTo>
                  <a:pt x="0" y="0"/>
                </a:moveTo>
                <a:lnTo>
                  <a:pt x="370268" y="0"/>
                </a:lnTo>
                <a:lnTo>
                  <a:pt x="370268" y="1310684"/>
                </a:lnTo>
                <a:lnTo>
                  <a:pt x="0" y="13106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6159324" y="8248570"/>
            <a:ext cx="1348763" cy="1186911"/>
          </a:xfrm>
          <a:custGeom>
            <a:avLst/>
            <a:gdLst/>
            <a:ahLst/>
            <a:cxnLst/>
            <a:rect r="r" b="b" t="t" l="l"/>
            <a:pathLst>
              <a:path h="1186911" w="1348763">
                <a:moveTo>
                  <a:pt x="0" y="0"/>
                </a:moveTo>
                <a:lnTo>
                  <a:pt x="1348763" y="0"/>
                </a:lnTo>
                <a:lnTo>
                  <a:pt x="1348763" y="1186911"/>
                </a:lnTo>
                <a:lnTo>
                  <a:pt x="0" y="11869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2" id="12"/>
          <p:cNvSpPr/>
          <p:nvPr/>
        </p:nvSpPr>
        <p:spPr>
          <a:xfrm flipH="false" flipV="false" rot="0">
            <a:off x="857387" y="1028700"/>
            <a:ext cx="982693" cy="949527"/>
          </a:xfrm>
          <a:custGeom>
            <a:avLst/>
            <a:gdLst/>
            <a:ahLst/>
            <a:cxnLst/>
            <a:rect r="r" b="b" t="t" l="l"/>
            <a:pathLst>
              <a:path h="949527" w="982693">
                <a:moveTo>
                  <a:pt x="0" y="0"/>
                </a:moveTo>
                <a:lnTo>
                  <a:pt x="982693" y="0"/>
                </a:lnTo>
                <a:lnTo>
                  <a:pt x="982693" y="949527"/>
                </a:lnTo>
                <a:lnTo>
                  <a:pt x="0" y="94952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3" id="13"/>
          <p:cNvSpPr/>
          <p:nvPr/>
        </p:nvSpPr>
        <p:spPr>
          <a:xfrm flipH="false" flipV="false" rot="0">
            <a:off x="1674743" y="5331634"/>
            <a:ext cx="7315200" cy="2916936"/>
          </a:xfrm>
          <a:custGeom>
            <a:avLst/>
            <a:gdLst/>
            <a:ahLst/>
            <a:cxnLst/>
            <a:rect r="r" b="b" t="t" l="l"/>
            <a:pathLst>
              <a:path h="2916936" w="7315200">
                <a:moveTo>
                  <a:pt x="0" y="0"/>
                </a:moveTo>
                <a:lnTo>
                  <a:pt x="7315200" y="0"/>
                </a:lnTo>
                <a:lnTo>
                  <a:pt x="7315200" y="2916936"/>
                </a:lnTo>
                <a:lnTo>
                  <a:pt x="0" y="291693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4" id="14"/>
          <p:cNvSpPr/>
          <p:nvPr/>
        </p:nvSpPr>
        <p:spPr>
          <a:xfrm flipH="false" flipV="false" rot="0">
            <a:off x="9621229" y="5202846"/>
            <a:ext cx="372621" cy="257575"/>
          </a:xfrm>
          <a:custGeom>
            <a:avLst/>
            <a:gdLst/>
            <a:ahLst/>
            <a:cxnLst/>
            <a:rect r="r" b="b" t="t" l="l"/>
            <a:pathLst>
              <a:path h="257575" w="372621">
                <a:moveTo>
                  <a:pt x="0" y="0"/>
                </a:moveTo>
                <a:lnTo>
                  <a:pt x="372621" y="0"/>
                </a:lnTo>
                <a:lnTo>
                  <a:pt x="372621" y="257575"/>
                </a:lnTo>
                <a:lnTo>
                  <a:pt x="0" y="25757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5" id="15"/>
          <p:cNvSpPr/>
          <p:nvPr/>
        </p:nvSpPr>
        <p:spPr>
          <a:xfrm flipH="false" flipV="false" rot="0">
            <a:off x="9621229" y="5812789"/>
            <a:ext cx="372621" cy="257575"/>
          </a:xfrm>
          <a:custGeom>
            <a:avLst/>
            <a:gdLst/>
            <a:ahLst/>
            <a:cxnLst/>
            <a:rect r="r" b="b" t="t" l="l"/>
            <a:pathLst>
              <a:path h="257575" w="372621">
                <a:moveTo>
                  <a:pt x="0" y="0"/>
                </a:moveTo>
                <a:lnTo>
                  <a:pt x="372621" y="0"/>
                </a:lnTo>
                <a:lnTo>
                  <a:pt x="372621" y="257575"/>
                </a:lnTo>
                <a:lnTo>
                  <a:pt x="0" y="25757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6" id="16"/>
          <p:cNvSpPr txBox="true"/>
          <p:nvPr/>
        </p:nvSpPr>
        <p:spPr>
          <a:xfrm rot="0">
            <a:off x="1949891" y="2147289"/>
            <a:ext cx="8429454" cy="3038376"/>
          </a:xfrm>
          <a:prstGeom prst="rect">
            <a:avLst/>
          </a:prstGeom>
        </p:spPr>
        <p:txBody>
          <a:bodyPr anchor="t" rtlCol="false" tIns="0" lIns="0" bIns="0" rIns="0">
            <a:spAutoFit/>
          </a:bodyPr>
          <a:lstStyle/>
          <a:p>
            <a:pPr algn="l">
              <a:lnSpc>
                <a:spcPts val="7679"/>
              </a:lnSpc>
            </a:pPr>
            <a:r>
              <a:rPr lang="en-US" sz="6399">
                <a:solidFill>
                  <a:srgbClr val="000000"/>
                </a:solidFill>
                <a:latin typeface="ITC Motter Corpus Semicondensed"/>
                <a:ea typeface="ITC Motter Corpus Semicondensed"/>
                <a:cs typeface="ITC Motter Corpus Semicondensed"/>
                <a:sym typeface="ITC Motter Corpus Semicondensed"/>
              </a:rPr>
              <a:t>COMPREHENSIVE ELDER CARE SOLUTIONS</a:t>
            </a:r>
          </a:p>
        </p:txBody>
      </p:sp>
      <p:sp>
        <p:nvSpPr>
          <p:cNvPr name="TextBox 17" id="17"/>
          <p:cNvSpPr txBox="true"/>
          <p:nvPr/>
        </p:nvSpPr>
        <p:spPr>
          <a:xfrm rot="0">
            <a:off x="9621229" y="2223489"/>
            <a:ext cx="6392578" cy="2613422"/>
          </a:xfrm>
          <a:prstGeom prst="rect">
            <a:avLst/>
          </a:prstGeom>
        </p:spPr>
        <p:txBody>
          <a:bodyPr anchor="t" rtlCol="false" tIns="0" lIns="0" bIns="0" rIns="0">
            <a:spAutoFit/>
          </a:bodyPr>
          <a:lstStyle/>
          <a:p>
            <a:pPr algn="just">
              <a:lnSpc>
                <a:spcPts val="3499"/>
              </a:lnSpc>
            </a:pPr>
            <a:r>
              <a:rPr lang="en-US" sz="2499">
                <a:solidFill>
                  <a:srgbClr val="000000"/>
                </a:solidFill>
                <a:latin typeface="Nunito"/>
                <a:ea typeface="Nunito"/>
                <a:cs typeface="Nunito"/>
                <a:sym typeface="Nunito"/>
              </a:rPr>
              <a:t>Comprehensive elder care includes medical, nursing, and personal care services tailored to the unique needs of seniors. These services help maintain independence and dignity, while also addressing mental and emotional well-being.</a:t>
            </a:r>
          </a:p>
        </p:txBody>
      </p:sp>
      <p:sp>
        <p:nvSpPr>
          <p:cNvPr name="TextBox 18" id="18"/>
          <p:cNvSpPr txBox="true"/>
          <p:nvPr/>
        </p:nvSpPr>
        <p:spPr>
          <a:xfrm rot="0">
            <a:off x="10379345" y="5185665"/>
            <a:ext cx="5041863" cy="371409"/>
          </a:xfrm>
          <a:prstGeom prst="rect">
            <a:avLst/>
          </a:prstGeom>
        </p:spPr>
        <p:txBody>
          <a:bodyPr anchor="t" rtlCol="false" tIns="0" lIns="0" bIns="0" rIns="0">
            <a:spAutoFit/>
          </a:bodyPr>
          <a:lstStyle/>
          <a:p>
            <a:pPr algn="l">
              <a:lnSpc>
                <a:spcPts val="2999"/>
              </a:lnSpc>
            </a:pPr>
            <a:r>
              <a:rPr lang="en-US" sz="2499" b="true">
                <a:solidFill>
                  <a:srgbClr val="000000"/>
                </a:solidFill>
                <a:latin typeface="Nunito Bold"/>
                <a:ea typeface="Nunito Bold"/>
                <a:cs typeface="Nunito Bold"/>
                <a:sym typeface="Nunito Bold"/>
              </a:rPr>
              <a:t>MEDICAL AND NURSING CARE</a:t>
            </a:r>
          </a:p>
        </p:txBody>
      </p:sp>
      <p:sp>
        <p:nvSpPr>
          <p:cNvPr name="TextBox 19" id="19"/>
          <p:cNvSpPr txBox="true"/>
          <p:nvPr/>
        </p:nvSpPr>
        <p:spPr>
          <a:xfrm rot="0">
            <a:off x="10379345" y="5785674"/>
            <a:ext cx="5725761" cy="371409"/>
          </a:xfrm>
          <a:prstGeom prst="rect">
            <a:avLst/>
          </a:prstGeom>
        </p:spPr>
        <p:txBody>
          <a:bodyPr anchor="t" rtlCol="false" tIns="0" lIns="0" bIns="0" rIns="0">
            <a:spAutoFit/>
          </a:bodyPr>
          <a:lstStyle/>
          <a:p>
            <a:pPr algn="l">
              <a:lnSpc>
                <a:spcPts val="2999"/>
              </a:lnSpc>
            </a:pPr>
            <a:r>
              <a:rPr lang="en-US" sz="2499" b="true">
                <a:solidFill>
                  <a:srgbClr val="000000"/>
                </a:solidFill>
                <a:latin typeface="Nunito Bold"/>
                <a:ea typeface="Nunito Bold"/>
                <a:cs typeface="Nunito Bold"/>
                <a:sym typeface="Nunito Bold"/>
              </a:rPr>
              <a:t>ASSISTED LIVING AND HOME CARE</a:t>
            </a:r>
          </a:p>
        </p:txBody>
      </p:sp>
      <p:sp>
        <p:nvSpPr>
          <p:cNvPr name="TextBox 20" id="20"/>
          <p:cNvSpPr txBox="true"/>
          <p:nvPr/>
        </p:nvSpPr>
        <p:spPr>
          <a:xfrm rot="0">
            <a:off x="10379345" y="6385683"/>
            <a:ext cx="5041863" cy="371409"/>
          </a:xfrm>
          <a:prstGeom prst="rect">
            <a:avLst/>
          </a:prstGeom>
        </p:spPr>
        <p:txBody>
          <a:bodyPr anchor="t" rtlCol="false" tIns="0" lIns="0" bIns="0" rIns="0">
            <a:spAutoFit/>
          </a:bodyPr>
          <a:lstStyle/>
          <a:p>
            <a:pPr algn="l">
              <a:lnSpc>
                <a:spcPts val="2999"/>
              </a:lnSpc>
            </a:pPr>
            <a:r>
              <a:rPr lang="en-US" sz="2499" b="true">
                <a:solidFill>
                  <a:srgbClr val="000000"/>
                </a:solidFill>
                <a:latin typeface="Nunito Bold"/>
                <a:ea typeface="Nunito Bold"/>
                <a:cs typeface="Nunito Bold"/>
                <a:sym typeface="Nunito Bold"/>
              </a:rPr>
              <a:t>MEMORY CARE SERVICES</a:t>
            </a:r>
          </a:p>
        </p:txBody>
      </p:sp>
      <p:sp>
        <p:nvSpPr>
          <p:cNvPr name="TextBox 21" id="21"/>
          <p:cNvSpPr txBox="true"/>
          <p:nvPr/>
        </p:nvSpPr>
        <p:spPr>
          <a:xfrm rot="0">
            <a:off x="10379345" y="6985691"/>
            <a:ext cx="5508955" cy="371409"/>
          </a:xfrm>
          <a:prstGeom prst="rect">
            <a:avLst/>
          </a:prstGeom>
        </p:spPr>
        <p:txBody>
          <a:bodyPr anchor="t" rtlCol="false" tIns="0" lIns="0" bIns="0" rIns="0">
            <a:spAutoFit/>
          </a:bodyPr>
          <a:lstStyle/>
          <a:p>
            <a:pPr algn="l">
              <a:lnSpc>
                <a:spcPts val="2999"/>
              </a:lnSpc>
            </a:pPr>
            <a:r>
              <a:rPr lang="en-US" sz="2499" b="true">
                <a:solidFill>
                  <a:srgbClr val="000000"/>
                </a:solidFill>
                <a:latin typeface="Nunito Bold"/>
                <a:ea typeface="Nunito Bold"/>
                <a:cs typeface="Nunito Bold"/>
                <a:sym typeface="Nunito Bold"/>
              </a:rPr>
              <a:t>PALLIATIVE AND HOSPICE CARE</a:t>
            </a:r>
          </a:p>
        </p:txBody>
      </p:sp>
      <p:sp>
        <p:nvSpPr>
          <p:cNvPr name="TextBox 22" id="22"/>
          <p:cNvSpPr txBox="true"/>
          <p:nvPr/>
        </p:nvSpPr>
        <p:spPr>
          <a:xfrm rot="0">
            <a:off x="10379345" y="7585700"/>
            <a:ext cx="5921006" cy="371409"/>
          </a:xfrm>
          <a:prstGeom prst="rect">
            <a:avLst/>
          </a:prstGeom>
        </p:spPr>
        <p:txBody>
          <a:bodyPr anchor="t" rtlCol="false" tIns="0" lIns="0" bIns="0" rIns="0">
            <a:spAutoFit/>
          </a:bodyPr>
          <a:lstStyle/>
          <a:p>
            <a:pPr algn="l">
              <a:lnSpc>
                <a:spcPts val="2999"/>
              </a:lnSpc>
            </a:pPr>
            <a:r>
              <a:rPr lang="en-US" sz="2499" b="true">
                <a:solidFill>
                  <a:srgbClr val="000000"/>
                </a:solidFill>
                <a:latin typeface="Nunito Bold"/>
                <a:ea typeface="Nunito Bold"/>
                <a:cs typeface="Nunito Bold"/>
                <a:sym typeface="Nunito Bold"/>
              </a:rPr>
              <a:t>EMOTIONAL AND SOCIAL SUPPORT</a:t>
            </a:r>
          </a:p>
        </p:txBody>
      </p:sp>
      <p:sp>
        <p:nvSpPr>
          <p:cNvPr name="Freeform 23" id="23"/>
          <p:cNvSpPr/>
          <p:nvPr/>
        </p:nvSpPr>
        <p:spPr>
          <a:xfrm flipH="false" flipV="false" rot="0">
            <a:off x="9621229" y="6422732"/>
            <a:ext cx="372621" cy="257575"/>
          </a:xfrm>
          <a:custGeom>
            <a:avLst/>
            <a:gdLst/>
            <a:ahLst/>
            <a:cxnLst/>
            <a:rect r="r" b="b" t="t" l="l"/>
            <a:pathLst>
              <a:path h="257575" w="372621">
                <a:moveTo>
                  <a:pt x="0" y="0"/>
                </a:moveTo>
                <a:lnTo>
                  <a:pt x="372621" y="0"/>
                </a:lnTo>
                <a:lnTo>
                  <a:pt x="372621" y="257575"/>
                </a:lnTo>
                <a:lnTo>
                  <a:pt x="0" y="25757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4" id="24"/>
          <p:cNvSpPr/>
          <p:nvPr/>
        </p:nvSpPr>
        <p:spPr>
          <a:xfrm flipH="false" flipV="false" rot="0">
            <a:off x="9621229" y="7032675"/>
            <a:ext cx="372621" cy="257575"/>
          </a:xfrm>
          <a:custGeom>
            <a:avLst/>
            <a:gdLst/>
            <a:ahLst/>
            <a:cxnLst/>
            <a:rect r="r" b="b" t="t" l="l"/>
            <a:pathLst>
              <a:path h="257575" w="372621">
                <a:moveTo>
                  <a:pt x="0" y="0"/>
                </a:moveTo>
                <a:lnTo>
                  <a:pt x="372621" y="0"/>
                </a:lnTo>
                <a:lnTo>
                  <a:pt x="372621" y="257574"/>
                </a:lnTo>
                <a:lnTo>
                  <a:pt x="0" y="25757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5" id="25"/>
          <p:cNvSpPr/>
          <p:nvPr/>
        </p:nvSpPr>
        <p:spPr>
          <a:xfrm flipH="false" flipV="false" rot="0">
            <a:off x="9621229" y="7642617"/>
            <a:ext cx="372621" cy="257575"/>
          </a:xfrm>
          <a:custGeom>
            <a:avLst/>
            <a:gdLst/>
            <a:ahLst/>
            <a:cxnLst/>
            <a:rect r="r" b="b" t="t" l="l"/>
            <a:pathLst>
              <a:path h="257575" w="372621">
                <a:moveTo>
                  <a:pt x="0" y="0"/>
                </a:moveTo>
                <a:lnTo>
                  <a:pt x="372621" y="0"/>
                </a:lnTo>
                <a:lnTo>
                  <a:pt x="372621" y="257575"/>
                </a:lnTo>
                <a:lnTo>
                  <a:pt x="0" y="25757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93B170"/>
        </a:solidFill>
      </p:bgPr>
    </p:bg>
    <p:spTree>
      <p:nvGrpSpPr>
        <p:cNvPr id="1" name=""/>
        <p:cNvGrpSpPr/>
        <p:nvPr/>
      </p:nvGrpSpPr>
      <p:grpSpPr>
        <a:xfrm>
          <a:off x="0" y="0"/>
          <a:ext cx="0" cy="0"/>
          <a:chOff x="0" y="0"/>
          <a:chExt cx="0" cy="0"/>
        </a:xfrm>
      </p:grpSpPr>
      <p:sp>
        <p:nvSpPr>
          <p:cNvPr name="Freeform 2" id="2"/>
          <p:cNvSpPr/>
          <p:nvPr/>
        </p:nvSpPr>
        <p:spPr>
          <a:xfrm flipH="false" flipV="false" rot="0">
            <a:off x="-3666301" y="5684195"/>
            <a:ext cx="14316670" cy="4624534"/>
          </a:xfrm>
          <a:custGeom>
            <a:avLst/>
            <a:gdLst/>
            <a:ahLst/>
            <a:cxnLst/>
            <a:rect r="r" b="b" t="t" l="l"/>
            <a:pathLst>
              <a:path h="4624534" w="14316670">
                <a:moveTo>
                  <a:pt x="0" y="0"/>
                </a:moveTo>
                <a:lnTo>
                  <a:pt x="14316670" y="0"/>
                </a:lnTo>
                <a:lnTo>
                  <a:pt x="14316670" y="4624534"/>
                </a:lnTo>
                <a:lnTo>
                  <a:pt x="0" y="4624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53250" y="5684195"/>
            <a:ext cx="14316670" cy="4624534"/>
          </a:xfrm>
          <a:custGeom>
            <a:avLst/>
            <a:gdLst/>
            <a:ahLst/>
            <a:cxnLst/>
            <a:rect r="r" b="b" t="t" l="l"/>
            <a:pathLst>
              <a:path h="4624534" w="14316670">
                <a:moveTo>
                  <a:pt x="0" y="0"/>
                </a:moveTo>
                <a:lnTo>
                  <a:pt x="14316670" y="0"/>
                </a:lnTo>
                <a:lnTo>
                  <a:pt x="14316670" y="4624534"/>
                </a:lnTo>
                <a:lnTo>
                  <a:pt x="0" y="4624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530744" y="0"/>
            <a:ext cx="4961271" cy="4961271"/>
          </a:xfrm>
          <a:custGeom>
            <a:avLst/>
            <a:gdLst/>
            <a:ahLst/>
            <a:cxnLst/>
            <a:rect r="r" b="b" t="t" l="l"/>
            <a:pathLst>
              <a:path h="4961271" w="4961271">
                <a:moveTo>
                  <a:pt x="0" y="0"/>
                </a:moveTo>
                <a:lnTo>
                  <a:pt x="4961271" y="0"/>
                </a:lnTo>
                <a:lnTo>
                  <a:pt x="4961271"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0">
            <a:off x="4430527" y="0"/>
            <a:ext cx="4961271" cy="4961271"/>
          </a:xfrm>
          <a:custGeom>
            <a:avLst/>
            <a:gdLst/>
            <a:ahLst/>
            <a:cxnLst/>
            <a:rect r="r" b="b" t="t" l="l"/>
            <a:pathLst>
              <a:path h="4961271" w="4961271">
                <a:moveTo>
                  <a:pt x="0" y="0"/>
                </a:moveTo>
                <a:lnTo>
                  <a:pt x="4961272" y="0"/>
                </a:lnTo>
                <a:lnTo>
                  <a:pt x="4961272"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9391799" y="0"/>
            <a:ext cx="4961271" cy="4961271"/>
          </a:xfrm>
          <a:custGeom>
            <a:avLst/>
            <a:gdLst/>
            <a:ahLst/>
            <a:cxnLst/>
            <a:rect r="r" b="b" t="t" l="l"/>
            <a:pathLst>
              <a:path h="4961271" w="4961271">
                <a:moveTo>
                  <a:pt x="0" y="0"/>
                </a:moveTo>
                <a:lnTo>
                  <a:pt x="4961271" y="0"/>
                </a:lnTo>
                <a:lnTo>
                  <a:pt x="4961271"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4353070" y="0"/>
            <a:ext cx="4961271" cy="4961271"/>
          </a:xfrm>
          <a:custGeom>
            <a:avLst/>
            <a:gdLst/>
            <a:ahLst/>
            <a:cxnLst/>
            <a:rect r="r" b="b" t="t" l="l"/>
            <a:pathLst>
              <a:path h="4961271" w="4961271">
                <a:moveTo>
                  <a:pt x="0" y="0"/>
                </a:moveTo>
                <a:lnTo>
                  <a:pt x="4961272" y="0"/>
                </a:lnTo>
                <a:lnTo>
                  <a:pt x="4961272"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0">
            <a:off x="1249793" y="2362578"/>
            <a:ext cx="8060644" cy="5561844"/>
          </a:xfrm>
          <a:custGeom>
            <a:avLst/>
            <a:gdLst/>
            <a:ahLst/>
            <a:cxnLst/>
            <a:rect r="r" b="b" t="t" l="l"/>
            <a:pathLst>
              <a:path h="5561844" w="8060644">
                <a:moveTo>
                  <a:pt x="0" y="0"/>
                </a:moveTo>
                <a:lnTo>
                  <a:pt x="8060644" y="0"/>
                </a:lnTo>
                <a:lnTo>
                  <a:pt x="8060644" y="5561844"/>
                </a:lnTo>
                <a:lnTo>
                  <a:pt x="0" y="55618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977563" y="2362578"/>
            <a:ext cx="8060644" cy="5561844"/>
          </a:xfrm>
          <a:custGeom>
            <a:avLst/>
            <a:gdLst/>
            <a:ahLst/>
            <a:cxnLst/>
            <a:rect r="r" b="b" t="t" l="l"/>
            <a:pathLst>
              <a:path h="5561844" w="8060644">
                <a:moveTo>
                  <a:pt x="0" y="0"/>
                </a:moveTo>
                <a:lnTo>
                  <a:pt x="8060644" y="0"/>
                </a:lnTo>
                <a:lnTo>
                  <a:pt x="8060644" y="5561844"/>
                </a:lnTo>
                <a:lnTo>
                  <a:pt x="0" y="55618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897919" y="6809551"/>
            <a:ext cx="1348763" cy="1186911"/>
          </a:xfrm>
          <a:custGeom>
            <a:avLst/>
            <a:gdLst/>
            <a:ahLst/>
            <a:cxnLst/>
            <a:rect r="r" b="b" t="t" l="l"/>
            <a:pathLst>
              <a:path h="1186911" w="1348763">
                <a:moveTo>
                  <a:pt x="0" y="0"/>
                </a:moveTo>
                <a:lnTo>
                  <a:pt x="1348763" y="0"/>
                </a:lnTo>
                <a:lnTo>
                  <a:pt x="1348763" y="1186911"/>
                </a:lnTo>
                <a:lnTo>
                  <a:pt x="0" y="118691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1" id="11"/>
          <p:cNvSpPr/>
          <p:nvPr/>
        </p:nvSpPr>
        <p:spPr>
          <a:xfrm flipH="false" flipV="false" rot="0">
            <a:off x="15628759" y="2074497"/>
            <a:ext cx="982693" cy="949527"/>
          </a:xfrm>
          <a:custGeom>
            <a:avLst/>
            <a:gdLst/>
            <a:ahLst/>
            <a:cxnLst/>
            <a:rect r="r" b="b" t="t" l="l"/>
            <a:pathLst>
              <a:path h="949527" w="982693">
                <a:moveTo>
                  <a:pt x="0" y="0"/>
                </a:moveTo>
                <a:lnTo>
                  <a:pt x="982693" y="0"/>
                </a:lnTo>
                <a:lnTo>
                  <a:pt x="982693" y="949527"/>
                </a:lnTo>
                <a:lnTo>
                  <a:pt x="0" y="9495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2" id="12"/>
          <p:cNvSpPr/>
          <p:nvPr/>
        </p:nvSpPr>
        <p:spPr>
          <a:xfrm flipH="false" flipV="false" rot="-679291">
            <a:off x="2519104" y="2368682"/>
            <a:ext cx="370268" cy="1310684"/>
          </a:xfrm>
          <a:custGeom>
            <a:avLst/>
            <a:gdLst/>
            <a:ahLst/>
            <a:cxnLst/>
            <a:rect r="r" b="b" t="t" l="l"/>
            <a:pathLst>
              <a:path h="1310684" w="370268">
                <a:moveTo>
                  <a:pt x="0" y="0"/>
                </a:moveTo>
                <a:lnTo>
                  <a:pt x="370268" y="0"/>
                </a:lnTo>
                <a:lnTo>
                  <a:pt x="370268" y="1310683"/>
                </a:lnTo>
                <a:lnTo>
                  <a:pt x="0" y="131068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5600184" y="6192970"/>
            <a:ext cx="1555191" cy="1652261"/>
          </a:xfrm>
          <a:custGeom>
            <a:avLst/>
            <a:gdLst/>
            <a:ahLst/>
            <a:cxnLst/>
            <a:rect r="r" b="b" t="t" l="l"/>
            <a:pathLst>
              <a:path h="1652261" w="1555191">
                <a:moveTo>
                  <a:pt x="0" y="0"/>
                </a:moveTo>
                <a:lnTo>
                  <a:pt x="1555191" y="0"/>
                </a:lnTo>
                <a:lnTo>
                  <a:pt x="1555191" y="1652262"/>
                </a:lnTo>
                <a:lnTo>
                  <a:pt x="0" y="165226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4" id="14"/>
          <p:cNvSpPr/>
          <p:nvPr/>
        </p:nvSpPr>
        <p:spPr>
          <a:xfrm flipH="false" flipV="false" rot="0">
            <a:off x="8119326" y="3125703"/>
            <a:ext cx="2049349" cy="1995553"/>
          </a:xfrm>
          <a:custGeom>
            <a:avLst/>
            <a:gdLst/>
            <a:ahLst/>
            <a:cxnLst/>
            <a:rect r="r" b="b" t="t" l="l"/>
            <a:pathLst>
              <a:path h="1995553" w="2049349">
                <a:moveTo>
                  <a:pt x="0" y="0"/>
                </a:moveTo>
                <a:lnTo>
                  <a:pt x="2049348" y="0"/>
                </a:lnTo>
                <a:lnTo>
                  <a:pt x="2049348" y="1995553"/>
                </a:lnTo>
                <a:lnTo>
                  <a:pt x="0" y="199555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5" id="15"/>
          <p:cNvSpPr txBox="true"/>
          <p:nvPr/>
        </p:nvSpPr>
        <p:spPr>
          <a:xfrm rot="0">
            <a:off x="3380417" y="4952209"/>
            <a:ext cx="11527167" cy="2066892"/>
          </a:xfrm>
          <a:prstGeom prst="rect">
            <a:avLst/>
          </a:prstGeom>
        </p:spPr>
        <p:txBody>
          <a:bodyPr anchor="t" rtlCol="false" tIns="0" lIns="0" bIns="0" rIns="0">
            <a:spAutoFit/>
          </a:bodyPr>
          <a:lstStyle/>
          <a:p>
            <a:pPr algn="ctr">
              <a:lnSpc>
                <a:spcPts val="14400"/>
              </a:lnSpc>
            </a:pPr>
            <a:r>
              <a:rPr lang="en-US" sz="12000">
                <a:solidFill>
                  <a:srgbClr val="000000"/>
                </a:solidFill>
                <a:latin typeface="ITC Motter Corpus Semicondensed"/>
                <a:ea typeface="ITC Motter Corpus Semicondensed"/>
                <a:cs typeface="ITC Motter Corpus Semicondensed"/>
                <a:sym typeface="ITC Motter Corpus Semicondensed"/>
              </a:rPr>
              <a:t>BREAK TIME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93B170"/>
        </a:solidFill>
      </p:bgPr>
    </p:bg>
    <p:spTree>
      <p:nvGrpSpPr>
        <p:cNvPr id="1" name=""/>
        <p:cNvGrpSpPr/>
        <p:nvPr/>
      </p:nvGrpSpPr>
      <p:grpSpPr>
        <a:xfrm>
          <a:off x="0" y="0"/>
          <a:ext cx="0" cy="0"/>
          <a:chOff x="0" y="0"/>
          <a:chExt cx="0" cy="0"/>
        </a:xfrm>
      </p:grpSpPr>
      <p:sp>
        <p:nvSpPr>
          <p:cNvPr name="Freeform 2" id="2"/>
          <p:cNvSpPr/>
          <p:nvPr/>
        </p:nvSpPr>
        <p:spPr>
          <a:xfrm flipH="false" flipV="false" rot="0">
            <a:off x="-3666301" y="5684195"/>
            <a:ext cx="14316670" cy="4624534"/>
          </a:xfrm>
          <a:custGeom>
            <a:avLst/>
            <a:gdLst/>
            <a:ahLst/>
            <a:cxnLst/>
            <a:rect r="r" b="b" t="t" l="l"/>
            <a:pathLst>
              <a:path h="4624534" w="14316670">
                <a:moveTo>
                  <a:pt x="0" y="0"/>
                </a:moveTo>
                <a:lnTo>
                  <a:pt x="14316670" y="0"/>
                </a:lnTo>
                <a:lnTo>
                  <a:pt x="14316670" y="4624534"/>
                </a:lnTo>
                <a:lnTo>
                  <a:pt x="0" y="4624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53250" y="5684195"/>
            <a:ext cx="14316670" cy="4624534"/>
          </a:xfrm>
          <a:custGeom>
            <a:avLst/>
            <a:gdLst/>
            <a:ahLst/>
            <a:cxnLst/>
            <a:rect r="r" b="b" t="t" l="l"/>
            <a:pathLst>
              <a:path h="4624534" w="14316670">
                <a:moveTo>
                  <a:pt x="0" y="0"/>
                </a:moveTo>
                <a:lnTo>
                  <a:pt x="14316670" y="0"/>
                </a:lnTo>
                <a:lnTo>
                  <a:pt x="14316670" y="4624534"/>
                </a:lnTo>
                <a:lnTo>
                  <a:pt x="0" y="4624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530744" y="0"/>
            <a:ext cx="4961271" cy="4961271"/>
          </a:xfrm>
          <a:custGeom>
            <a:avLst/>
            <a:gdLst/>
            <a:ahLst/>
            <a:cxnLst/>
            <a:rect r="r" b="b" t="t" l="l"/>
            <a:pathLst>
              <a:path h="4961271" w="4961271">
                <a:moveTo>
                  <a:pt x="0" y="0"/>
                </a:moveTo>
                <a:lnTo>
                  <a:pt x="4961271" y="0"/>
                </a:lnTo>
                <a:lnTo>
                  <a:pt x="4961271"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0">
            <a:off x="4430527" y="0"/>
            <a:ext cx="4961271" cy="4961271"/>
          </a:xfrm>
          <a:custGeom>
            <a:avLst/>
            <a:gdLst/>
            <a:ahLst/>
            <a:cxnLst/>
            <a:rect r="r" b="b" t="t" l="l"/>
            <a:pathLst>
              <a:path h="4961271" w="4961271">
                <a:moveTo>
                  <a:pt x="0" y="0"/>
                </a:moveTo>
                <a:lnTo>
                  <a:pt x="4961272" y="0"/>
                </a:lnTo>
                <a:lnTo>
                  <a:pt x="4961272"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9391799" y="0"/>
            <a:ext cx="4961271" cy="4961271"/>
          </a:xfrm>
          <a:custGeom>
            <a:avLst/>
            <a:gdLst/>
            <a:ahLst/>
            <a:cxnLst/>
            <a:rect r="r" b="b" t="t" l="l"/>
            <a:pathLst>
              <a:path h="4961271" w="4961271">
                <a:moveTo>
                  <a:pt x="0" y="0"/>
                </a:moveTo>
                <a:lnTo>
                  <a:pt x="4961271" y="0"/>
                </a:lnTo>
                <a:lnTo>
                  <a:pt x="4961271"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4353070" y="0"/>
            <a:ext cx="4961271" cy="4961271"/>
          </a:xfrm>
          <a:custGeom>
            <a:avLst/>
            <a:gdLst/>
            <a:ahLst/>
            <a:cxnLst/>
            <a:rect r="r" b="b" t="t" l="l"/>
            <a:pathLst>
              <a:path h="4961271" w="4961271">
                <a:moveTo>
                  <a:pt x="0" y="0"/>
                </a:moveTo>
                <a:lnTo>
                  <a:pt x="4961272" y="0"/>
                </a:lnTo>
                <a:lnTo>
                  <a:pt x="4961272"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0">
            <a:off x="1028700" y="1028700"/>
            <a:ext cx="11926957" cy="8229600"/>
          </a:xfrm>
          <a:custGeom>
            <a:avLst/>
            <a:gdLst/>
            <a:ahLst/>
            <a:cxnLst/>
            <a:rect r="r" b="b" t="t" l="l"/>
            <a:pathLst>
              <a:path h="8229600" w="11926957">
                <a:moveTo>
                  <a:pt x="0" y="0"/>
                </a:moveTo>
                <a:lnTo>
                  <a:pt x="11926957" y="0"/>
                </a:lnTo>
                <a:lnTo>
                  <a:pt x="11926957" y="8229600"/>
                </a:lnTo>
                <a:lnTo>
                  <a:pt x="0" y="82296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5332343" y="1028700"/>
            <a:ext cx="11926957" cy="8229600"/>
          </a:xfrm>
          <a:custGeom>
            <a:avLst/>
            <a:gdLst/>
            <a:ahLst/>
            <a:cxnLst/>
            <a:rect r="r" b="b" t="t" l="l"/>
            <a:pathLst>
              <a:path h="8229600" w="11926957">
                <a:moveTo>
                  <a:pt x="0" y="0"/>
                </a:moveTo>
                <a:lnTo>
                  <a:pt x="11926957" y="0"/>
                </a:lnTo>
                <a:lnTo>
                  <a:pt x="11926957" y="8229600"/>
                </a:lnTo>
                <a:lnTo>
                  <a:pt x="0" y="82296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5193672" y="8294321"/>
            <a:ext cx="1260103" cy="963979"/>
          </a:xfrm>
          <a:custGeom>
            <a:avLst/>
            <a:gdLst/>
            <a:ahLst/>
            <a:cxnLst/>
            <a:rect r="r" b="b" t="t" l="l"/>
            <a:pathLst>
              <a:path h="963979" w="1260103">
                <a:moveTo>
                  <a:pt x="0" y="0"/>
                </a:moveTo>
                <a:lnTo>
                  <a:pt x="1260103" y="0"/>
                </a:lnTo>
                <a:lnTo>
                  <a:pt x="1260103" y="963979"/>
                </a:lnTo>
                <a:lnTo>
                  <a:pt x="0" y="9639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5648250" y="8025847"/>
            <a:ext cx="1611050" cy="1232453"/>
          </a:xfrm>
          <a:custGeom>
            <a:avLst/>
            <a:gdLst/>
            <a:ahLst/>
            <a:cxnLst/>
            <a:rect r="r" b="b" t="t" l="l"/>
            <a:pathLst>
              <a:path h="1232453" w="1611050">
                <a:moveTo>
                  <a:pt x="0" y="0"/>
                </a:moveTo>
                <a:lnTo>
                  <a:pt x="1611050" y="0"/>
                </a:lnTo>
                <a:lnTo>
                  <a:pt x="1611050" y="1232453"/>
                </a:lnTo>
                <a:lnTo>
                  <a:pt x="0" y="123245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647660" y="8294321"/>
            <a:ext cx="1260103" cy="963979"/>
          </a:xfrm>
          <a:custGeom>
            <a:avLst/>
            <a:gdLst/>
            <a:ahLst/>
            <a:cxnLst/>
            <a:rect r="r" b="b" t="t" l="l"/>
            <a:pathLst>
              <a:path h="963979" w="1260103">
                <a:moveTo>
                  <a:pt x="0" y="0"/>
                </a:moveTo>
                <a:lnTo>
                  <a:pt x="1260103" y="0"/>
                </a:lnTo>
                <a:lnTo>
                  <a:pt x="1260103" y="963979"/>
                </a:lnTo>
                <a:lnTo>
                  <a:pt x="0" y="9639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992019" y="8025847"/>
            <a:ext cx="1611050" cy="1232453"/>
          </a:xfrm>
          <a:custGeom>
            <a:avLst/>
            <a:gdLst/>
            <a:ahLst/>
            <a:cxnLst/>
            <a:rect r="r" b="b" t="t" l="l"/>
            <a:pathLst>
              <a:path h="1232453" w="1611050">
                <a:moveTo>
                  <a:pt x="0" y="0"/>
                </a:moveTo>
                <a:lnTo>
                  <a:pt x="1611050" y="0"/>
                </a:lnTo>
                <a:lnTo>
                  <a:pt x="1611050" y="1232453"/>
                </a:lnTo>
                <a:lnTo>
                  <a:pt x="0" y="123245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601639" y="2788266"/>
            <a:ext cx="982693" cy="949527"/>
          </a:xfrm>
          <a:custGeom>
            <a:avLst/>
            <a:gdLst/>
            <a:ahLst/>
            <a:cxnLst/>
            <a:rect r="r" b="b" t="t" l="l"/>
            <a:pathLst>
              <a:path h="949527" w="982693">
                <a:moveTo>
                  <a:pt x="0" y="0"/>
                </a:moveTo>
                <a:lnTo>
                  <a:pt x="982692" y="0"/>
                </a:lnTo>
                <a:lnTo>
                  <a:pt x="982692" y="949527"/>
                </a:lnTo>
                <a:lnTo>
                  <a:pt x="0" y="94952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5" id="15"/>
          <p:cNvSpPr/>
          <p:nvPr/>
        </p:nvSpPr>
        <p:spPr>
          <a:xfrm flipH="false" flipV="false" rot="0">
            <a:off x="15105012" y="1786725"/>
            <a:ext cx="1348763" cy="1186911"/>
          </a:xfrm>
          <a:custGeom>
            <a:avLst/>
            <a:gdLst/>
            <a:ahLst/>
            <a:cxnLst/>
            <a:rect r="r" b="b" t="t" l="l"/>
            <a:pathLst>
              <a:path h="1186911" w="1348763">
                <a:moveTo>
                  <a:pt x="0" y="0"/>
                </a:moveTo>
                <a:lnTo>
                  <a:pt x="1348763" y="0"/>
                </a:lnTo>
                <a:lnTo>
                  <a:pt x="1348763" y="1186911"/>
                </a:lnTo>
                <a:lnTo>
                  <a:pt x="0" y="118691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6" id="16"/>
          <p:cNvSpPr/>
          <p:nvPr/>
        </p:nvSpPr>
        <p:spPr>
          <a:xfrm flipH="false" flipV="false" rot="0">
            <a:off x="2320461" y="6179515"/>
            <a:ext cx="1174604" cy="1107065"/>
          </a:xfrm>
          <a:custGeom>
            <a:avLst/>
            <a:gdLst/>
            <a:ahLst/>
            <a:cxnLst/>
            <a:rect r="r" b="b" t="t" l="l"/>
            <a:pathLst>
              <a:path h="1107065" w="1174604">
                <a:moveTo>
                  <a:pt x="0" y="0"/>
                </a:moveTo>
                <a:lnTo>
                  <a:pt x="1174605" y="0"/>
                </a:lnTo>
                <a:lnTo>
                  <a:pt x="1174605" y="1107065"/>
                </a:lnTo>
                <a:lnTo>
                  <a:pt x="0" y="110706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7" id="17"/>
          <p:cNvSpPr/>
          <p:nvPr/>
        </p:nvSpPr>
        <p:spPr>
          <a:xfrm flipH="false" flipV="false" rot="0">
            <a:off x="7096448" y="6179515"/>
            <a:ext cx="1174604" cy="1107065"/>
          </a:xfrm>
          <a:custGeom>
            <a:avLst/>
            <a:gdLst/>
            <a:ahLst/>
            <a:cxnLst/>
            <a:rect r="r" b="b" t="t" l="l"/>
            <a:pathLst>
              <a:path h="1107065" w="1174604">
                <a:moveTo>
                  <a:pt x="0" y="0"/>
                </a:moveTo>
                <a:lnTo>
                  <a:pt x="1174604" y="0"/>
                </a:lnTo>
                <a:lnTo>
                  <a:pt x="1174604" y="1107065"/>
                </a:lnTo>
                <a:lnTo>
                  <a:pt x="0" y="110706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8" id="18"/>
          <p:cNvSpPr/>
          <p:nvPr/>
        </p:nvSpPr>
        <p:spPr>
          <a:xfrm flipH="false" flipV="false" rot="0">
            <a:off x="11872434" y="6179515"/>
            <a:ext cx="1174604" cy="1107065"/>
          </a:xfrm>
          <a:custGeom>
            <a:avLst/>
            <a:gdLst/>
            <a:ahLst/>
            <a:cxnLst/>
            <a:rect r="r" b="b" t="t" l="l"/>
            <a:pathLst>
              <a:path h="1107065" w="1174604">
                <a:moveTo>
                  <a:pt x="0" y="0"/>
                </a:moveTo>
                <a:lnTo>
                  <a:pt x="1174605" y="0"/>
                </a:lnTo>
                <a:lnTo>
                  <a:pt x="1174605" y="1107065"/>
                </a:lnTo>
                <a:lnTo>
                  <a:pt x="0" y="110706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9" id="19"/>
          <p:cNvSpPr/>
          <p:nvPr/>
        </p:nvSpPr>
        <p:spPr>
          <a:xfrm flipH="false" flipV="false" rot="0">
            <a:off x="2584331" y="6361639"/>
            <a:ext cx="609111" cy="742818"/>
          </a:xfrm>
          <a:custGeom>
            <a:avLst/>
            <a:gdLst/>
            <a:ahLst/>
            <a:cxnLst/>
            <a:rect r="r" b="b" t="t" l="l"/>
            <a:pathLst>
              <a:path h="742818" w="609111">
                <a:moveTo>
                  <a:pt x="0" y="0"/>
                </a:moveTo>
                <a:lnTo>
                  <a:pt x="609111" y="0"/>
                </a:lnTo>
                <a:lnTo>
                  <a:pt x="609111" y="742817"/>
                </a:lnTo>
                <a:lnTo>
                  <a:pt x="0" y="742817"/>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0" id="20"/>
          <p:cNvSpPr/>
          <p:nvPr/>
        </p:nvSpPr>
        <p:spPr>
          <a:xfrm flipH="false" flipV="false" rot="0">
            <a:off x="7377338" y="6361639"/>
            <a:ext cx="612825" cy="742818"/>
          </a:xfrm>
          <a:custGeom>
            <a:avLst/>
            <a:gdLst/>
            <a:ahLst/>
            <a:cxnLst/>
            <a:rect r="r" b="b" t="t" l="l"/>
            <a:pathLst>
              <a:path h="742818" w="612825">
                <a:moveTo>
                  <a:pt x="0" y="0"/>
                </a:moveTo>
                <a:lnTo>
                  <a:pt x="612824" y="0"/>
                </a:lnTo>
                <a:lnTo>
                  <a:pt x="612824" y="742817"/>
                </a:lnTo>
                <a:lnTo>
                  <a:pt x="0" y="742817"/>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1" id="21"/>
          <p:cNvSpPr/>
          <p:nvPr/>
        </p:nvSpPr>
        <p:spPr>
          <a:xfrm flipH="false" flipV="false" rot="0">
            <a:off x="12064592" y="6361639"/>
            <a:ext cx="848935" cy="742818"/>
          </a:xfrm>
          <a:custGeom>
            <a:avLst/>
            <a:gdLst/>
            <a:ahLst/>
            <a:cxnLst/>
            <a:rect r="r" b="b" t="t" l="l"/>
            <a:pathLst>
              <a:path h="742818" w="848935">
                <a:moveTo>
                  <a:pt x="0" y="0"/>
                </a:moveTo>
                <a:lnTo>
                  <a:pt x="848935" y="0"/>
                </a:lnTo>
                <a:lnTo>
                  <a:pt x="848935" y="742817"/>
                </a:lnTo>
                <a:lnTo>
                  <a:pt x="0" y="742817"/>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TextBox 22" id="22"/>
          <p:cNvSpPr txBox="true"/>
          <p:nvPr/>
        </p:nvSpPr>
        <p:spPr>
          <a:xfrm rot="0">
            <a:off x="3774467" y="1878294"/>
            <a:ext cx="10739066" cy="2066859"/>
          </a:xfrm>
          <a:prstGeom prst="rect">
            <a:avLst/>
          </a:prstGeom>
        </p:spPr>
        <p:txBody>
          <a:bodyPr anchor="t" rtlCol="false" tIns="0" lIns="0" bIns="0" rIns="0">
            <a:spAutoFit/>
          </a:bodyPr>
          <a:lstStyle/>
          <a:p>
            <a:pPr algn="ctr">
              <a:lnSpc>
                <a:spcPts val="7679"/>
              </a:lnSpc>
            </a:pPr>
            <a:r>
              <a:rPr lang="en-US" sz="6399">
                <a:solidFill>
                  <a:srgbClr val="000000"/>
                </a:solidFill>
                <a:latin typeface="ITC Motter Corpus Semicondensed"/>
                <a:ea typeface="ITC Motter Corpus Semicondensed"/>
                <a:cs typeface="ITC Motter Corpus Semicondensed"/>
                <a:sym typeface="ITC Motter Corpus Semicondensed"/>
              </a:rPr>
              <a:t>THE HEART OF ELDER CARE SERVICES</a:t>
            </a:r>
          </a:p>
        </p:txBody>
      </p:sp>
      <p:sp>
        <p:nvSpPr>
          <p:cNvPr name="TextBox 23" id="23"/>
          <p:cNvSpPr txBox="true"/>
          <p:nvPr/>
        </p:nvSpPr>
        <p:spPr>
          <a:xfrm rot="0">
            <a:off x="2291364" y="4141475"/>
            <a:ext cx="14162411" cy="1298774"/>
          </a:xfrm>
          <a:prstGeom prst="rect">
            <a:avLst/>
          </a:prstGeom>
        </p:spPr>
        <p:txBody>
          <a:bodyPr anchor="t" rtlCol="false" tIns="0" lIns="0" bIns="0" rIns="0">
            <a:spAutoFit/>
          </a:bodyPr>
          <a:lstStyle/>
          <a:p>
            <a:pPr algn="just">
              <a:lnSpc>
                <a:spcPts val="3499"/>
              </a:lnSpc>
            </a:pPr>
            <a:r>
              <a:rPr lang="en-US" sz="2499">
                <a:solidFill>
                  <a:srgbClr val="000000"/>
                </a:solidFill>
                <a:latin typeface="Nunito"/>
                <a:ea typeface="Nunito"/>
                <a:cs typeface="Nunito"/>
                <a:sym typeface="Nunito"/>
              </a:rPr>
              <a:t>Compassion is at the core of elder care, ensuring that seniors feel valued, respected, and supported throughout their journey. By fostering empathy and patience, caregivers can provide a comforting and dignified experience for the elderly.</a:t>
            </a:r>
          </a:p>
        </p:txBody>
      </p:sp>
      <p:sp>
        <p:nvSpPr>
          <p:cNvPr name="TextBox 24" id="24"/>
          <p:cNvSpPr txBox="true"/>
          <p:nvPr/>
        </p:nvSpPr>
        <p:spPr>
          <a:xfrm rot="0">
            <a:off x="3774467" y="6361639"/>
            <a:ext cx="2390586" cy="742818"/>
          </a:xfrm>
          <a:prstGeom prst="rect">
            <a:avLst/>
          </a:prstGeom>
        </p:spPr>
        <p:txBody>
          <a:bodyPr anchor="t" rtlCol="false" tIns="0" lIns="0" bIns="0" rIns="0">
            <a:spAutoFit/>
          </a:bodyPr>
          <a:lstStyle/>
          <a:p>
            <a:pPr algn="l">
              <a:lnSpc>
                <a:spcPts val="2999"/>
              </a:lnSpc>
            </a:pPr>
            <a:r>
              <a:rPr lang="en-US" sz="2499" b="true">
                <a:solidFill>
                  <a:srgbClr val="000000"/>
                </a:solidFill>
                <a:latin typeface="Nunito Bold"/>
                <a:ea typeface="Nunito Bold"/>
                <a:cs typeface="Nunito Bold"/>
                <a:sym typeface="Nunito Bold"/>
              </a:rPr>
              <a:t>EMPATHY AND PATIENCE</a:t>
            </a:r>
          </a:p>
        </p:txBody>
      </p:sp>
      <p:sp>
        <p:nvSpPr>
          <p:cNvPr name="TextBox 25" id="25"/>
          <p:cNvSpPr txBox="true"/>
          <p:nvPr/>
        </p:nvSpPr>
        <p:spPr>
          <a:xfrm rot="0">
            <a:off x="8674122" y="6361639"/>
            <a:ext cx="2621700" cy="742818"/>
          </a:xfrm>
          <a:prstGeom prst="rect">
            <a:avLst/>
          </a:prstGeom>
        </p:spPr>
        <p:txBody>
          <a:bodyPr anchor="t" rtlCol="false" tIns="0" lIns="0" bIns="0" rIns="0">
            <a:spAutoFit/>
          </a:bodyPr>
          <a:lstStyle/>
          <a:p>
            <a:pPr algn="l">
              <a:lnSpc>
                <a:spcPts val="2999"/>
              </a:lnSpc>
            </a:pPr>
            <a:r>
              <a:rPr lang="en-US" sz="2499" b="true">
                <a:solidFill>
                  <a:srgbClr val="000000"/>
                </a:solidFill>
                <a:latin typeface="Nunito Bold"/>
                <a:ea typeface="Nunito Bold"/>
                <a:cs typeface="Nunito Bold"/>
                <a:sym typeface="Nunito Bold"/>
              </a:rPr>
              <a:t>PERSONALIZED ATTENTION</a:t>
            </a:r>
          </a:p>
        </p:txBody>
      </p:sp>
      <p:sp>
        <p:nvSpPr>
          <p:cNvPr name="TextBox 26" id="26"/>
          <p:cNvSpPr txBox="true"/>
          <p:nvPr/>
        </p:nvSpPr>
        <p:spPr>
          <a:xfrm rot="0">
            <a:off x="13433138" y="6361639"/>
            <a:ext cx="2390586" cy="742818"/>
          </a:xfrm>
          <a:prstGeom prst="rect">
            <a:avLst/>
          </a:prstGeom>
        </p:spPr>
        <p:txBody>
          <a:bodyPr anchor="t" rtlCol="false" tIns="0" lIns="0" bIns="0" rIns="0">
            <a:spAutoFit/>
          </a:bodyPr>
          <a:lstStyle/>
          <a:p>
            <a:pPr algn="l">
              <a:lnSpc>
                <a:spcPts val="2999"/>
              </a:lnSpc>
            </a:pPr>
            <a:r>
              <a:rPr lang="en-US" sz="2499" b="true">
                <a:solidFill>
                  <a:srgbClr val="000000"/>
                </a:solidFill>
                <a:latin typeface="Nunito Bold"/>
                <a:ea typeface="Nunito Bold"/>
                <a:cs typeface="Nunito Bold"/>
                <a:sym typeface="Nunito Bold"/>
              </a:rPr>
              <a:t>FAMILY INVOLVEMENT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93B170"/>
        </a:solidFill>
      </p:bgPr>
    </p:bg>
    <p:spTree>
      <p:nvGrpSpPr>
        <p:cNvPr id="1" name=""/>
        <p:cNvGrpSpPr/>
        <p:nvPr/>
      </p:nvGrpSpPr>
      <p:grpSpPr>
        <a:xfrm>
          <a:off x="0" y="0"/>
          <a:ext cx="0" cy="0"/>
          <a:chOff x="0" y="0"/>
          <a:chExt cx="0" cy="0"/>
        </a:xfrm>
      </p:grpSpPr>
      <p:sp>
        <p:nvSpPr>
          <p:cNvPr name="Freeform 2" id="2"/>
          <p:cNvSpPr/>
          <p:nvPr/>
        </p:nvSpPr>
        <p:spPr>
          <a:xfrm flipH="false" flipV="false" rot="0">
            <a:off x="-3666301" y="5684195"/>
            <a:ext cx="14316670" cy="4624534"/>
          </a:xfrm>
          <a:custGeom>
            <a:avLst/>
            <a:gdLst/>
            <a:ahLst/>
            <a:cxnLst/>
            <a:rect r="r" b="b" t="t" l="l"/>
            <a:pathLst>
              <a:path h="4624534" w="14316670">
                <a:moveTo>
                  <a:pt x="0" y="0"/>
                </a:moveTo>
                <a:lnTo>
                  <a:pt x="14316670" y="0"/>
                </a:lnTo>
                <a:lnTo>
                  <a:pt x="14316670" y="4624534"/>
                </a:lnTo>
                <a:lnTo>
                  <a:pt x="0" y="4624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53250" y="5684195"/>
            <a:ext cx="14316670" cy="4624534"/>
          </a:xfrm>
          <a:custGeom>
            <a:avLst/>
            <a:gdLst/>
            <a:ahLst/>
            <a:cxnLst/>
            <a:rect r="r" b="b" t="t" l="l"/>
            <a:pathLst>
              <a:path h="4624534" w="14316670">
                <a:moveTo>
                  <a:pt x="0" y="0"/>
                </a:moveTo>
                <a:lnTo>
                  <a:pt x="14316670" y="0"/>
                </a:lnTo>
                <a:lnTo>
                  <a:pt x="14316670" y="4624534"/>
                </a:lnTo>
                <a:lnTo>
                  <a:pt x="0" y="4624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530744" y="0"/>
            <a:ext cx="4961271" cy="4961271"/>
          </a:xfrm>
          <a:custGeom>
            <a:avLst/>
            <a:gdLst/>
            <a:ahLst/>
            <a:cxnLst/>
            <a:rect r="r" b="b" t="t" l="l"/>
            <a:pathLst>
              <a:path h="4961271" w="4961271">
                <a:moveTo>
                  <a:pt x="0" y="0"/>
                </a:moveTo>
                <a:lnTo>
                  <a:pt x="4961271" y="0"/>
                </a:lnTo>
                <a:lnTo>
                  <a:pt x="4961271"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0">
            <a:off x="4430527" y="0"/>
            <a:ext cx="4961271" cy="4961271"/>
          </a:xfrm>
          <a:custGeom>
            <a:avLst/>
            <a:gdLst/>
            <a:ahLst/>
            <a:cxnLst/>
            <a:rect r="r" b="b" t="t" l="l"/>
            <a:pathLst>
              <a:path h="4961271" w="4961271">
                <a:moveTo>
                  <a:pt x="0" y="0"/>
                </a:moveTo>
                <a:lnTo>
                  <a:pt x="4961272" y="0"/>
                </a:lnTo>
                <a:lnTo>
                  <a:pt x="4961272"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9391799" y="0"/>
            <a:ext cx="4961271" cy="4961271"/>
          </a:xfrm>
          <a:custGeom>
            <a:avLst/>
            <a:gdLst/>
            <a:ahLst/>
            <a:cxnLst/>
            <a:rect r="r" b="b" t="t" l="l"/>
            <a:pathLst>
              <a:path h="4961271" w="4961271">
                <a:moveTo>
                  <a:pt x="0" y="0"/>
                </a:moveTo>
                <a:lnTo>
                  <a:pt x="4961271" y="0"/>
                </a:lnTo>
                <a:lnTo>
                  <a:pt x="4961271"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4353070" y="0"/>
            <a:ext cx="4961271" cy="4961271"/>
          </a:xfrm>
          <a:custGeom>
            <a:avLst/>
            <a:gdLst/>
            <a:ahLst/>
            <a:cxnLst/>
            <a:rect r="r" b="b" t="t" l="l"/>
            <a:pathLst>
              <a:path h="4961271" w="4961271">
                <a:moveTo>
                  <a:pt x="0" y="0"/>
                </a:moveTo>
                <a:lnTo>
                  <a:pt x="4961272" y="0"/>
                </a:lnTo>
                <a:lnTo>
                  <a:pt x="4961272"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0">
            <a:off x="1028700" y="1028700"/>
            <a:ext cx="11926957" cy="8229600"/>
          </a:xfrm>
          <a:custGeom>
            <a:avLst/>
            <a:gdLst/>
            <a:ahLst/>
            <a:cxnLst/>
            <a:rect r="r" b="b" t="t" l="l"/>
            <a:pathLst>
              <a:path h="8229600" w="11926957">
                <a:moveTo>
                  <a:pt x="0" y="0"/>
                </a:moveTo>
                <a:lnTo>
                  <a:pt x="11926957" y="0"/>
                </a:lnTo>
                <a:lnTo>
                  <a:pt x="11926957" y="8229600"/>
                </a:lnTo>
                <a:lnTo>
                  <a:pt x="0" y="82296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5332343" y="1028700"/>
            <a:ext cx="11926957" cy="8229600"/>
          </a:xfrm>
          <a:custGeom>
            <a:avLst/>
            <a:gdLst/>
            <a:ahLst/>
            <a:cxnLst/>
            <a:rect r="r" b="b" t="t" l="l"/>
            <a:pathLst>
              <a:path h="8229600" w="11926957">
                <a:moveTo>
                  <a:pt x="0" y="0"/>
                </a:moveTo>
                <a:lnTo>
                  <a:pt x="11926957" y="0"/>
                </a:lnTo>
                <a:lnTo>
                  <a:pt x="11926957" y="8229600"/>
                </a:lnTo>
                <a:lnTo>
                  <a:pt x="0" y="82296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5851013" y="1028700"/>
            <a:ext cx="982693" cy="949527"/>
          </a:xfrm>
          <a:custGeom>
            <a:avLst/>
            <a:gdLst/>
            <a:ahLst/>
            <a:cxnLst/>
            <a:rect r="r" b="b" t="t" l="l"/>
            <a:pathLst>
              <a:path h="949527" w="982693">
                <a:moveTo>
                  <a:pt x="0" y="0"/>
                </a:moveTo>
                <a:lnTo>
                  <a:pt x="982693" y="0"/>
                </a:lnTo>
                <a:lnTo>
                  <a:pt x="982693" y="949527"/>
                </a:lnTo>
                <a:lnTo>
                  <a:pt x="0" y="9495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1" id="11"/>
          <p:cNvSpPr/>
          <p:nvPr/>
        </p:nvSpPr>
        <p:spPr>
          <a:xfrm flipH="false" flipV="false" rot="0">
            <a:off x="6236781" y="1707634"/>
            <a:ext cx="1348763" cy="1186911"/>
          </a:xfrm>
          <a:custGeom>
            <a:avLst/>
            <a:gdLst/>
            <a:ahLst/>
            <a:cxnLst/>
            <a:rect r="r" b="b" t="t" l="l"/>
            <a:pathLst>
              <a:path h="1186911" w="1348763">
                <a:moveTo>
                  <a:pt x="0" y="0"/>
                </a:moveTo>
                <a:lnTo>
                  <a:pt x="1348763" y="0"/>
                </a:lnTo>
                <a:lnTo>
                  <a:pt x="1348763" y="1186911"/>
                </a:lnTo>
                <a:lnTo>
                  <a:pt x="0" y="11869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2" id="12"/>
          <p:cNvSpPr/>
          <p:nvPr/>
        </p:nvSpPr>
        <p:spPr>
          <a:xfrm flipH="false" flipV="false" rot="0">
            <a:off x="15193672" y="8294321"/>
            <a:ext cx="1260103" cy="963979"/>
          </a:xfrm>
          <a:custGeom>
            <a:avLst/>
            <a:gdLst/>
            <a:ahLst/>
            <a:cxnLst/>
            <a:rect r="r" b="b" t="t" l="l"/>
            <a:pathLst>
              <a:path h="963979" w="1260103">
                <a:moveTo>
                  <a:pt x="0" y="0"/>
                </a:moveTo>
                <a:lnTo>
                  <a:pt x="1260103" y="0"/>
                </a:lnTo>
                <a:lnTo>
                  <a:pt x="1260103" y="963979"/>
                </a:lnTo>
                <a:lnTo>
                  <a:pt x="0" y="9639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5648250" y="8025847"/>
            <a:ext cx="1611050" cy="1232453"/>
          </a:xfrm>
          <a:custGeom>
            <a:avLst/>
            <a:gdLst/>
            <a:ahLst/>
            <a:cxnLst/>
            <a:rect r="r" b="b" t="t" l="l"/>
            <a:pathLst>
              <a:path h="1232453" w="1611050">
                <a:moveTo>
                  <a:pt x="0" y="0"/>
                </a:moveTo>
                <a:lnTo>
                  <a:pt x="1611050" y="0"/>
                </a:lnTo>
                <a:lnTo>
                  <a:pt x="1611050" y="1232453"/>
                </a:lnTo>
                <a:lnTo>
                  <a:pt x="0" y="123245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4" id="14"/>
          <p:cNvSpPr/>
          <p:nvPr/>
        </p:nvSpPr>
        <p:spPr>
          <a:xfrm flipH="false" flipV="false" rot="0">
            <a:off x="1674050" y="2633395"/>
            <a:ext cx="6198220" cy="5392451"/>
          </a:xfrm>
          <a:custGeom>
            <a:avLst/>
            <a:gdLst/>
            <a:ahLst/>
            <a:cxnLst/>
            <a:rect r="r" b="b" t="t" l="l"/>
            <a:pathLst>
              <a:path h="5392451" w="6198220">
                <a:moveTo>
                  <a:pt x="0" y="0"/>
                </a:moveTo>
                <a:lnTo>
                  <a:pt x="6198220" y="0"/>
                </a:lnTo>
                <a:lnTo>
                  <a:pt x="6198220" y="5392452"/>
                </a:lnTo>
                <a:lnTo>
                  <a:pt x="0" y="539245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5" id="15"/>
          <p:cNvSpPr txBox="true"/>
          <p:nvPr/>
        </p:nvSpPr>
        <p:spPr>
          <a:xfrm rot="0">
            <a:off x="8276296" y="2433310"/>
            <a:ext cx="8557410" cy="2066859"/>
          </a:xfrm>
          <a:prstGeom prst="rect">
            <a:avLst/>
          </a:prstGeom>
        </p:spPr>
        <p:txBody>
          <a:bodyPr anchor="t" rtlCol="false" tIns="0" lIns="0" bIns="0" rIns="0">
            <a:spAutoFit/>
          </a:bodyPr>
          <a:lstStyle/>
          <a:p>
            <a:pPr algn="l">
              <a:lnSpc>
                <a:spcPts val="7679"/>
              </a:lnSpc>
            </a:pPr>
            <a:r>
              <a:rPr lang="en-US" sz="6399">
                <a:solidFill>
                  <a:srgbClr val="000000"/>
                </a:solidFill>
                <a:latin typeface="ITC Motter Corpus Semicondensed"/>
                <a:ea typeface="ITC Motter Corpus Semicondensed"/>
                <a:cs typeface="ITC Motter Corpus Semicondensed"/>
                <a:sym typeface="ITC Motter Corpus Semicondensed"/>
              </a:rPr>
              <a:t>TAILORING CARE TO INDIVIDUAL NEEDS</a:t>
            </a:r>
          </a:p>
        </p:txBody>
      </p:sp>
      <p:sp>
        <p:nvSpPr>
          <p:cNvPr name="Freeform 16" id="16"/>
          <p:cNvSpPr/>
          <p:nvPr/>
        </p:nvSpPr>
        <p:spPr>
          <a:xfrm flipH="false" flipV="false" rot="-679291">
            <a:off x="2268339" y="1052292"/>
            <a:ext cx="370268" cy="1310684"/>
          </a:xfrm>
          <a:custGeom>
            <a:avLst/>
            <a:gdLst/>
            <a:ahLst/>
            <a:cxnLst/>
            <a:rect r="r" b="b" t="t" l="l"/>
            <a:pathLst>
              <a:path h="1310684" w="370268">
                <a:moveTo>
                  <a:pt x="0" y="0"/>
                </a:moveTo>
                <a:lnTo>
                  <a:pt x="370268" y="0"/>
                </a:lnTo>
                <a:lnTo>
                  <a:pt x="370268" y="1310684"/>
                </a:lnTo>
                <a:lnTo>
                  <a:pt x="0" y="131068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7" id="17"/>
          <p:cNvSpPr txBox="true"/>
          <p:nvPr/>
        </p:nvSpPr>
        <p:spPr>
          <a:xfrm rot="0">
            <a:off x="8325992" y="4678227"/>
            <a:ext cx="8229893" cy="3051638"/>
          </a:xfrm>
          <a:prstGeom prst="rect">
            <a:avLst/>
          </a:prstGeom>
        </p:spPr>
        <p:txBody>
          <a:bodyPr anchor="t" rtlCol="false" tIns="0" lIns="0" bIns="0" rIns="0">
            <a:spAutoFit/>
          </a:bodyPr>
          <a:lstStyle/>
          <a:p>
            <a:pPr algn="just">
              <a:lnSpc>
                <a:spcPts val="3499"/>
              </a:lnSpc>
            </a:pPr>
            <a:r>
              <a:rPr lang="en-US" sz="2499">
                <a:solidFill>
                  <a:srgbClr val="000000"/>
                </a:solidFill>
                <a:latin typeface="Nunito"/>
                <a:ea typeface="Nunito"/>
                <a:cs typeface="Nunito"/>
                <a:sym typeface="Nunito"/>
              </a:rPr>
              <a:t>Care solutions should be tailored to the unique needs of each individual, whether they are fully independent or require full-time support. By offering flexible and personalized care plans, we can provide the right level of support at every stage of aging. Independent Seniors, Seniors with Limited Mobility, Cognitive Impairment, And End-of-Life Care.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93B170"/>
        </a:solidFill>
      </p:bgPr>
    </p:bg>
    <p:spTree>
      <p:nvGrpSpPr>
        <p:cNvPr id="1" name=""/>
        <p:cNvGrpSpPr/>
        <p:nvPr/>
      </p:nvGrpSpPr>
      <p:grpSpPr>
        <a:xfrm>
          <a:off x="0" y="0"/>
          <a:ext cx="0" cy="0"/>
          <a:chOff x="0" y="0"/>
          <a:chExt cx="0" cy="0"/>
        </a:xfrm>
      </p:grpSpPr>
      <p:sp>
        <p:nvSpPr>
          <p:cNvPr name="Freeform 2" id="2"/>
          <p:cNvSpPr/>
          <p:nvPr/>
        </p:nvSpPr>
        <p:spPr>
          <a:xfrm flipH="false" flipV="false" rot="0">
            <a:off x="-3666301" y="5684195"/>
            <a:ext cx="14316670" cy="4624534"/>
          </a:xfrm>
          <a:custGeom>
            <a:avLst/>
            <a:gdLst/>
            <a:ahLst/>
            <a:cxnLst/>
            <a:rect r="r" b="b" t="t" l="l"/>
            <a:pathLst>
              <a:path h="4624534" w="14316670">
                <a:moveTo>
                  <a:pt x="0" y="0"/>
                </a:moveTo>
                <a:lnTo>
                  <a:pt x="14316670" y="0"/>
                </a:lnTo>
                <a:lnTo>
                  <a:pt x="14316670" y="4624534"/>
                </a:lnTo>
                <a:lnTo>
                  <a:pt x="0" y="4624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53250" y="5684195"/>
            <a:ext cx="14316670" cy="4624534"/>
          </a:xfrm>
          <a:custGeom>
            <a:avLst/>
            <a:gdLst/>
            <a:ahLst/>
            <a:cxnLst/>
            <a:rect r="r" b="b" t="t" l="l"/>
            <a:pathLst>
              <a:path h="4624534" w="14316670">
                <a:moveTo>
                  <a:pt x="0" y="0"/>
                </a:moveTo>
                <a:lnTo>
                  <a:pt x="14316670" y="0"/>
                </a:lnTo>
                <a:lnTo>
                  <a:pt x="14316670" y="4624534"/>
                </a:lnTo>
                <a:lnTo>
                  <a:pt x="0" y="4624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530744" y="0"/>
            <a:ext cx="4961271" cy="4961271"/>
          </a:xfrm>
          <a:custGeom>
            <a:avLst/>
            <a:gdLst/>
            <a:ahLst/>
            <a:cxnLst/>
            <a:rect r="r" b="b" t="t" l="l"/>
            <a:pathLst>
              <a:path h="4961271" w="4961271">
                <a:moveTo>
                  <a:pt x="0" y="0"/>
                </a:moveTo>
                <a:lnTo>
                  <a:pt x="4961271" y="0"/>
                </a:lnTo>
                <a:lnTo>
                  <a:pt x="4961271"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0">
            <a:off x="4430527" y="0"/>
            <a:ext cx="4961271" cy="4961271"/>
          </a:xfrm>
          <a:custGeom>
            <a:avLst/>
            <a:gdLst/>
            <a:ahLst/>
            <a:cxnLst/>
            <a:rect r="r" b="b" t="t" l="l"/>
            <a:pathLst>
              <a:path h="4961271" w="4961271">
                <a:moveTo>
                  <a:pt x="0" y="0"/>
                </a:moveTo>
                <a:lnTo>
                  <a:pt x="4961272" y="0"/>
                </a:lnTo>
                <a:lnTo>
                  <a:pt x="4961272"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9391799" y="0"/>
            <a:ext cx="4961271" cy="4961271"/>
          </a:xfrm>
          <a:custGeom>
            <a:avLst/>
            <a:gdLst/>
            <a:ahLst/>
            <a:cxnLst/>
            <a:rect r="r" b="b" t="t" l="l"/>
            <a:pathLst>
              <a:path h="4961271" w="4961271">
                <a:moveTo>
                  <a:pt x="0" y="0"/>
                </a:moveTo>
                <a:lnTo>
                  <a:pt x="4961271" y="0"/>
                </a:lnTo>
                <a:lnTo>
                  <a:pt x="4961271"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4353070" y="0"/>
            <a:ext cx="4961271" cy="4961271"/>
          </a:xfrm>
          <a:custGeom>
            <a:avLst/>
            <a:gdLst/>
            <a:ahLst/>
            <a:cxnLst/>
            <a:rect r="r" b="b" t="t" l="l"/>
            <a:pathLst>
              <a:path h="4961271" w="4961271">
                <a:moveTo>
                  <a:pt x="0" y="0"/>
                </a:moveTo>
                <a:lnTo>
                  <a:pt x="4961272" y="0"/>
                </a:lnTo>
                <a:lnTo>
                  <a:pt x="4961272"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0">
            <a:off x="1028700" y="1028700"/>
            <a:ext cx="11926957" cy="8229600"/>
          </a:xfrm>
          <a:custGeom>
            <a:avLst/>
            <a:gdLst/>
            <a:ahLst/>
            <a:cxnLst/>
            <a:rect r="r" b="b" t="t" l="l"/>
            <a:pathLst>
              <a:path h="8229600" w="11926957">
                <a:moveTo>
                  <a:pt x="0" y="0"/>
                </a:moveTo>
                <a:lnTo>
                  <a:pt x="11926957" y="0"/>
                </a:lnTo>
                <a:lnTo>
                  <a:pt x="11926957" y="8229600"/>
                </a:lnTo>
                <a:lnTo>
                  <a:pt x="0" y="82296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5332343" y="1028700"/>
            <a:ext cx="11926957" cy="8229600"/>
          </a:xfrm>
          <a:custGeom>
            <a:avLst/>
            <a:gdLst/>
            <a:ahLst/>
            <a:cxnLst/>
            <a:rect r="r" b="b" t="t" l="l"/>
            <a:pathLst>
              <a:path h="8229600" w="11926957">
                <a:moveTo>
                  <a:pt x="0" y="0"/>
                </a:moveTo>
                <a:lnTo>
                  <a:pt x="11926957" y="0"/>
                </a:lnTo>
                <a:lnTo>
                  <a:pt x="11926957" y="8229600"/>
                </a:lnTo>
                <a:lnTo>
                  <a:pt x="0" y="82296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5193672" y="8294321"/>
            <a:ext cx="1260103" cy="963979"/>
          </a:xfrm>
          <a:custGeom>
            <a:avLst/>
            <a:gdLst/>
            <a:ahLst/>
            <a:cxnLst/>
            <a:rect r="r" b="b" t="t" l="l"/>
            <a:pathLst>
              <a:path h="963979" w="1260103">
                <a:moveTo>
                  <a:pt x="0" y="0"/>
                </a:moveTo>
                <a:lnTo>
                  <a:pt x="1260103" y="0"/>
                </a:lnTo>
                <a:lnTo>
                  <a:pt x="1260103" y="963979"/>
                </a:lnTo>
                <a:lnTo>
                  <a:pt x="0" y="9639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5648250" y="8025847"/>
            <a:ext cx="1611050" cy="1232453"/>
          </a:xfrm>
          <a:custGeom>
            <a:avLst/>
            <a:gdLst/>
            <a:ahLst/>
            <a:cxnLst/>
            <a:rect r="r" b="b" t="t" l="l"/>
            <a:pathLst>
              <a:path h="1232453" w="1611050">
                <a:moveTo>
                  <a:pt x="0" y="0"/>
                </a:moveTo>
                <a:lnTo>
                  <a:pt x="1611050" y="0"/>
                </a:lnTo>
                <a:lnTo>
                  <a:pt x="1611050" y="1232453"/>
                </a:lnTo>
                <a:lnTo>
                  <a:pt x="0" y="123245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7320932" y="2125844"/>
            <a:ext cx="4141733" cy="6035312"/>
          </a:xfrm>
          <a:custGeom>
            <a:avLst/>
            <a:gdLst/>
            <a:ahLst/>
            <a:cxnLst/>
            <a:rect r="r" b="b" t="t" l="l"/>
            <a:pathLst>
              <a:path h="6035312" w="4141733">
                <a:moveTo>
                  <a:pt x="0" y="0"/>
                </a:moveTo>
                <a:lnTo>
                  <a:pt x="4141733" y="0"/>
                </a:lnTo>
                <a:lnTo>
                  <a:pt x="4141733" y="6035312"/>
                </a:lnTo>
                <a:lnTo>
                  <a:pt x="0" y="603531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2108551" y="1824761"/>
            <a:ext cx="5523153" cy="4009893"/>
          </a:xfrm>
          <a:prstGeom prst="rect">
            <a:avLst/>
          </a:prstGeom>
        </p:spPr>
        <p:txBody>
          <a:bodyPr anchor="t" rtlCol="false" tIns="0" lIns="0" bIns="0" rIns="0">
            <a:spAutoFit/>
          </a:bodyPr>
          <a:lstStyle/>
          <a:p>
            <a:pPr algn="l">
              <a:lnSpc>
                <a:spcPts val="7679"/>
              </a:lnSpc>
            </a:pPr>
            <a:r>
              <a:rPr lang="en-US" sz="6399">
                <a:solidFill>
                  <a:srgbClr val="000000"/>
                </a:solidFill>
                <a:latin typeface="ITC Motter Corpus Semicondensed"/>
                <a:ea typeface="ITC Motter Corpus Semicondensed"/>
                <a:cs typeface="ITC Motter Corpus Semicondensed"/>
                <a:sym typeface="ITC Motter Corpus Semicondensed"/>
              </a:rPr>
              <a:t>FINANCIAL PLANNING FOR ELDER CARE</a:t>
            </a:r>
          </a:p>
        </p:txBody>
      </p:sp>
      <p:sp>
        <p:nvSpPr>
          <p:cNvPr name="Freeform 14" id="14"/>
          <p:cNvSpPr/>
          <p:nvPr/>
        </p:nvSpPr>
        <p:spPr>
          <a:xfrm flipH="false" flipV="false" rot="-679291">
            <a:off x="16501181" y="1052292"/>
            <a:ext cx="370268" cy="1310684"/>
          </a:xfrm>
          <a:custGeom>
            <a:avLst/>
            <a:gdLst/>
            <a:ahLst/>
            <a:cxnLst/>
            <a:rect r="r" b="b" t="t" l="l"/>
            <a:pathLst>
              <a:path h="1310684" w="370268">
                <a:moveTo>
                  <a:pt x="0" y="0"/>
                </a:moveTo>
                <a:lnTo>
                  <a:pt x="370268" y="0"/>
                </a:lnTo>
                <a:lnTo>
                  <a:pt x="370268" y="1310684"/>
                </a:lnTo>
                <a:lnTo>
                  <a:pt x="0" y="131068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5" id="15"/>
          <p:cNvSpPr txBox="true"/>
          <p:nvPr/>
        </p:nvSpPr>
        <p:spPr>
          <a:xfrm rot="0">
            <a:off x="2108551" y="5964287"/>
            <a:ext cx="4802612" cy="2175206"/>
          </a:xfrm>
          <a:prstGeom prst="rect">
            <a:avLst/>
          </a:prstGeom>
        </p:spPr>
        <p:txBody>
          <a:bodyPr anchor="t" rtlCol="false" tIns="0" lIns="0" bIns="0" rIns="0">
            <a:spAutoFit/>
          </a:bodyPr>
          <a:lstStyle/>
          <a:p>
            <a:pPr algn="just">
              <a:lnSpc>
                <a:spcPts val="3499"/>
              </a:lnSpc>
            </a:pPr>
            <a:r>
              <a:rPr lang="en-US" sz="2499">
                <a:solidFill>
                  <a:srgbClr val="000000"/>
                </a:solidFill>
                <a:latin typeface="Nunito"/>
                <a:ea typeface="Nunito"/>
                <a:cs typeface="Nunito"/>
                <a:sym typeface="Nunito"/>
              </a:rPr>
              <a:t>Elder care requires financial planning to guide families through the costs of long-term care and ensure their loved ones receive the support they require</a:t>
            </a:r>
          </a:p>
        </p:txBody>
      </p:sp>
      <p:sp>
        <p:nvSpPr>
          <p:cNvPr name="Freeform 16" id="16"/>
          <p:cNvSpPr/>
          <p:nvPr/>
        </p:nvSpPr>
        <p:spPr>
          <a:xfrm flipH="false" flipV="false" rot="0">
            <a:off x="8652654" y="848601"/>
            <a:ext cx="982693" cy="949527"/>
          </a:xfrm>
          <a:custGeom>
            <a:avLst/>
            <a:gdLst/>
            <a:ahLst/>
            <a:cxnLst/>
            <a:rect r="r" b="b" t="t" l="l"/>
            <a:pathLst>
              <a:path h="949527" w="982693">
                <a:moveTo>
                  <a:pt x="0" y="0"/>
                </a:moveTo>
                <a:lnTo>
                  <a:pt x="982692" y="0"/>
                </a:lnTo>
                <a:lnTo>
                  <a:pt x="982692" y="949526"/>
                </a:lnTo>
                <a:lnTo>
                  <a:pt x="0" y="94952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7" id="17"/>
          <p:cNvSpPr/>
          <p:nvPr/>
        </p:nvSpPr>
        <p:spPr>
          <a:xfrm flipH="false" flipV="false" rot="0">
            <a:off x="11872434" y="2312113"/>
            <a:ext cx="372621" cy="257575"/>
          </a:xfrm>
          <a:custGeom>
            <a:avLst/>
            <a:gdLst/>
            <a:ahLst/>
            <a:cxnLst/>
            <a:rect r="r" b="b" t="t" l="l"/>
            <a:pathLst>
              <a:path h="257575" w="372621">
                <a:moveTo>
                  <a:pt x="0" y="0"/>
                </a:moveTo>
                <a:lnTo>
                  <a:pt x="372622" y="0"/>
                </a:lnTo>
                <a:lnTo>
                  <a:pt x="372622" y="257575"/>
                </a:lnTo>
                <a:lnTo>
                  <a:pt x="0" y="25757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8" id="18"/>
          <p:cNvSpPr/>
          <p:nvPr/>
        </p:nvSpPr>
        <p:spPr>
          <a:xfrm flipH="false" flipV="false" rot="0">
            <a:off x="11936467" y="4077890"/>
            <a:ext cx="372621" cy="257575"/>
          </a:xfrm>
          <a:custGeom>
            <a:avLst/>
            <a:gdLst/>
            <a:ahLst/>
            <a:cxnLst/>
            <a:rect r="r" b="b" t="t" l="l"/>
            <a:pathLst>
              <a:path h="257575" w="372621">
                <a:moveTo>
                  <a:pt x="0" y="0"/>
                </a:moveTo>
                <a:lnTo>
                  <a:pt x="372621" y="0"/>
                </a:lnTo>
                <a:lnTo>
                  <a:pt x="372621" y="257574"/>
                </a:lnTo>
                <a:lnTo>
                  <a:pt x="0" y="25757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9" id="19"/>
          <p:cNvSpPr txBox="true"/>
          <p:nvPr/>
        </p:nvSpPr>
        <p:spPr>
          <a:xfrm rot="0">
            <a:off x="12654631" y="2125844"/>
            <a:ext cx="3823224" cy="1114227"/>
          </a:xfrm>
          <a:prstGeom prst="rect">
            <a:avLst/>
          </a:prstGeom>
        </p:spPr>
        <p:txBody>
          <a:bodyPr anchor="t" rtlCol="false" tIns="0" lIns="0" bIns="0" rIns="0">
            <a:spAutoFit/>
          </a:bodyPr>
          <a:lstStyle/>
          <a:p>
            <a:pPr algn="l">
              <a:lnSpc>
                <a:spcPts val="2999"/>
              </a:lnSpc>
            </a:pPr>
            <a:r>
              <a:rPr lang="en-US" sz="2499" b="true">
                <a:solidFill>
                  <a:srgbClr val="000000"/>
                </a:solidFill>
                <a:latin typeface="Nunito Bold"/>
                <a:ea typeface="Nunito Bold"/>
                <a:cs typeface="Nunito Bold"/>
                <a:sym typeface="Nunito Bold"/>
              </a:rPr>
              <a:t>UNDERSTANDING LONG-TERM CARE INSURANCE</a:t>
            </a:r>
          </a:p>
        </p:txBody>
      </p:sp>
      <p:sp>
        <p:nvSpPr>
          <p:cNvPr name="TextBox 20" id="20"/>
          <p:cNvSpPr txBox="true"/>
          <p:nvPr/>
        </p:nvSpPr>
        <p:spPr>
          <a:xfrm rot="0">
            <a:off x="12718663" y="3891620"/>
            <a:ext cx="3823224" cy="742818"/>
          </a:xfrm>
          <a:prstGeom prst="rect">
            <a:avLst/>
          </a:prstGeom>
        </p:spPr>
        <p:txBody>
          <a:bodyPr anchor="t" rtlCol="false" tIns="0" lIns="0" bIns="0" rIns="0">
            <a:spAutoFit/>
          </a:bodyPr>
          <a:lstStyle/>
          <a:p>
            <a:pPr algn="l">
              <a:lnSpc>
                <a:spcPts val="2999"/>
              </a:lnSpc>
            </a:pPr>
            <a:r>
              <a:rPr lang="en-US" sz="2499" b="true">
                <a:solidFill>
                  <a:srgbClr val="000000"/>
                </a:solidFill>
                <a:latin typeface="Nunito Bold"/>
                <a:ea typeface="Nunito Bold"/>
                <a:cs typeface="Nunito Bold"/>
                <a:sym typeface="Nunito Bold"/>
              </a:rPr>
              <a:t>GOVERNMENT SUPPORT PROGRAMS</a:t>
            </a:r>
          </a:p>
        </p:txBody>
      </p:sp>
      <p:sp>
        <p:nvSpPr>
          <p:cNvPr name="Freeform 21" id="21"/>
          <p:cNvSpPr/>
          <p:nvPr/>
        </p:nvSpPr>
        <p:spPr>
          <a:xfrm flipH="false" flipV="false" rot="0">
            <a:off x="11872434" y="5287631"/>
            <a:ext cx="372621" cy="257575"/>
          </a:xfrm>
          <a:custGeom>
            <a:avLst/>
            <a:gdLst/>
            <a:ahLst/>
            <a:cxnLst/>
            <a:rect r="r" b="b" t="t" l="l"/>
            <a:pathLst>
              <a:path h="257575" w="372621">
                <a:moveTo>
                  <a:pt x="0" y="0"/>
                </a:moveTo>
                <a:lnTo>
                  <a:pt x="372622" y="0"/>
                </a:lnTo>
                <a:lnTo>
                  <a:pt x="372622" y="257574"/>
                </a:lnTo>
                <a:lnTo>
                  <a:pt x="0" y="25757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22" id="22"/>
          <p:cNvSpPr txBox="true"/>
          <p:nvPr/>
        </p:nvSpPr>
        <p:spPr>
          <a:xfrm rot="0">
            <a:off x="12654631" y="5101362"/>
            <a:ext cx="3169093" cy="742818"/>
          </a:xfrm>
          <a:prstGeom prst="rect">
            <a:avLst/>
          </a:prstGeom>
        </p:spPr>
        <p:txBody>
          <a:bodyPr anchor="t" rtlCol="false" tIns="0" lIns="0" bIns="0" rIns="0">
            <a:spAutoFit/>
          </a:bodyPr>
          <a:lstStyle/>
          <a:p>
            <a:pPr algn="l">
              <a:lnSpc>
                <a:spcPts val="2999"/>
              </a:lnSpc>
            </a:pPr>
            <a:r>
              <a:rPr lang="en-US" sz="2499" b="true">
                <a:solidFill>
                  <a:srgbClr val="000000"/>
                </a:solidFill>
                <a:latin typeface="Nunito Bold"/>
                <a:ea typeface="Nunito Bold"/>
                <a:cs typeface="Nunito Bold"/>
                <a:sym typeface="Nunito Bold"/>
              </a:rPr>
              <a:t>BUDGETING FOR CARE NEEDS</a:t>
            </a:r>
          </a:p>
        </p:txBody>
      </p:sp>
      <p:sp>
        <p:nvSpPr>
          <p:cNvPr name="Freeform 23" id="23"/>
          <p:cNvSpPr/>
          <p:nvPr/>
        </p:nvSpPr>
        <p:spPr>
          <a:xfrm flipH="false" flipV="false" rot="0">
            <a:off x="11872434" y="6644066"/>
            <a:ext cx="372621" cy="257575"/>
          </a:xfrm>
          <a:custGeom>
            <a:avLst/>
            <a:gdLst/>
            <a:ahLst/>
            <a:cxnLst/>
            <a:rect r="r" b="b" t="t" l="l"/>
            <a:pathLst>
              <a:path h="257575" w="372621">
                <a:moveTo>
                  <a:pt x="0" y="0"/>
                </a:moveTo>
                <a:lnTo>
                  <a:pt x="372622" y="0"/>
                </a:lnTo>
                <a:lnTo>
                  <a:pt x="372622" y="257575"/>
                </a:lnTo>
                <a:lnTo>
                  <a:pt x="0" y="25757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24" id="24"/>
          <p:cNvSpPr txBox="true"/>
          <p:nvPr/>
        </p:nvSpPr>
        <p:spPr>
          <a:xfrm rot="0">
            <a:off x="12654631" y="6457797"/>
            <a:ext cx="3321694" cy="1114227"/>
          </a:xfrm>
          <a:prstGeom prst="rect">
            <a:avLst/>
          </a:prstGeom>
        </p:spPr>
        <p:txBody>
          <a:bodyPr anchor="t" rtlCol="false" tIns="0" lIns="0" bIns="0" rIns="0">
            <a:spAutoFit/>
          </a:bodyPr>
          <a:lstStyle/>
          <a:p>
            <a:pPr algn="l">
              <a:lnSpc>
                <a:spcPts val="2999"/>
              </a:lnSpc>
            </a:pPr>
            <a:r>
              <a:rPr lang="en-US" sz="2499" b="true">
                <a:solidFill>
                  <a:srgbClr val="000000"/>
                </a:solidFill>
                <a:latin typeface="Nunito Bold"/>
                <a:ea typeface="Nunito Bold"/>
                <a:cs typeface="Nunito Bold"/>
                <a:sym typeface="Nunito Bold"/>
              </a:rPr>
              <a:t>ESTATE PLANNING AND LEGAL ASSISTANCE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93B170"/>
        </a:solidFill>
      </p:bgPr>
    </p:bg>
    <p:spTree>
      <p:nvGrpSpPr>
        <p:cNvPr id="1" name=""/>
        <p:cNvGrpSpPr/>
        <p:nvPr/>
      </p:nvGrpSpPr>
      <p:grpSpPr>
        <a:xfrm>
          <a:off x="0" y="0"/>
          <a:ext cx="0" cy="0"/>
          <a:chOff x="0" y="0"/>
          <a:chExt cx="0" cy="0"/>
        </a:xfrm>
      </p:grpSpPr>
      <p:sp>
        <p:nvSpPr>
          <p:cNvPr name="Freeform 2" id="2"/>
          <p:cNvSpPr/>
          <p:nvPr/>
        </p:nvSpPr>
        <p:spPr>
          <a:xfrm flipH="false" flipV="false" rot="0">
            <a:off x="-3666301" y="5684195"/>
            <a:ext cx="14316670" cy="4624534"/>
          </a:xfrm>
          <a:custGeom>
            <a:avLst/>
            <a:gdLst/>
            <a:ahLst/>
            <a:cxnLst/>
            <a:rect r="r" b="b" t="t" l="l"/>
            <a:pathLst>
              <a:path h="4624534" w="14316670">
                <a:moveTo>
                  <a:pt x="0" y="0"/>
                </a:moveTo>
                <a:lnTo>
                  <a:pt x="14316670" y="0"/>
                </a:lnTo>
                <a:lnTo>
                  <a:pt x="14316670" y="4624534"/>
                </a:lnTo>
                <a:lnTo>
                  <a:pt x="0" y="4624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53250" y="5684195"/>
            <a:ext cx="14316670" cy="4624534"/>
          </a:xfrm>
          <a:custGeom>
            <a:avLst/>
            <a:gdLst/>
            <a:ahLst/>
            <a:cxnLst/>
            <a:rect r="r" b="b" t="t" l="l"/>
            <a:pathLst>
              <a:path h="4624534" w="14316670">
                <a:moveTo>
                  <a:pt x="0" y="0"/>
                </a:moveTo>
                <a:lnTo>
                  <a:pt x="14316670" y="0"/>
                </a:lnTo>
                <a:lnTo>
                  <a:pt x="14316670" y="4624534"/>
                </a:lnTo>
                <a:lnTo>
                  <a:pt x="0" y="4624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530744" y="0"/>
            <a:ext cx="4961271" cy="4961271"/>
          </a:xfrm>
          <a:custGeom>
            <a:avLst/>
            <a:gdLst/>
            <a:ahLst/>
            <a:cxnLst/>
            <a:rect r="r" b="b" t="t" l="l"/>
            <a:pathLst>
              <a:path h="4961271" w="4961271">
                <a:moveTo>
                  <a:pt x="0" y="0"/>
                </a:moveTo>
                <a:lnTo>
                  <a:pt x="4961271" y="0"/>
                </a:lnTo>
                <a:lnTo>
                  <a:pt x="4961271"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0">
            <a:off x="4430527" y="0"/>
            <a:ext cx="4961271" cy="4961271"/>
          </a:xfrm>
          <a:custGeom>
            <a:avLst/>
            <a:gdLst/>
            <a:ahLst/>
            <a:cxnLst/>
            <a:rect r="r" b="b" t="t" l="l"/>
            <a:pathLst>
              <a:path h="4961271" w="4961271">
                <a:moveTo>
                  <a:pt x="0" y="0"/>
                </a:moveTo>
                <a:lnTo>
                  <a:pt x="4961272" y="0"/>
                </a:lnTo>
                <a:lnTo>
                  <a:pt x="4961272"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9391799" y="0"/>
            <a:ext cx="4961271" cy="4961271"/>
          </a:xfrm>
          <a:custGeom>
            <a:avLst/>
            <a:gdLst/>
            <a:ahLst/>
            <a:cxnLst/>
            <a:rect r="r" b="b" t="t" l="l"/>
            <a:pathLst>
              <a:path h="4961271" w="4961271">
                <a:moveTo>
                  <a:pt x="0" y="0"/>
                </a:moveTo>
                <a:lnTo>
                  <a:pt x="4961271" y="0"/>
                </a:lnTo>
                <a:lnTo>
                  <a:pt x="4961271"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4353070" y="0"/>
            <a:ext cx="4961271" cy="4961271"/>
          </a:xfrm>
          <a:custGeom>
            <a:avLst/>
            <a:gdLst/>
            <a:ahLst/>
            <a:cxnLst/>
            <a:rect r="r" b="b" t="t" l="l"/>
            <a:pathLst>
              <a:path h="4961271" w="4961271">
                <a:moveTo>
                  <a:pt x="0" y="0"/>
                </a:moveTo>
                <a:lnTo>
                  <a:pt x="4961272" y="0"/>
                </a:lnTo>
                <a:lnTo>
                  <a:pt x="4961272" y="4961271"/>
                </a:lnTo>
                <a:lnTo>
                  <a:pt x="0" y="49612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0">
            <a:off x="1249793" y="2362578"/>
            <a:ext cx="8060644" cy="5561844"/>
          </a:xfrm>
          <a:custGeom>
            <a:avLst/>
            <a:gdLst/>
            <a:ahLst/>
            <a:cxnLst/>
            <a:rect r="r" b="b" t="t" l="l"/>
            <a:pathLst>
              <a:path h="5561844" w="8060644">
                <a:moveTo>
                  <a:pt x="0" y="0"/>
                </a:moveTo>
                <a:lnTo>
                  <a:pt x="8060644" y="0"/>
                </a:lnTo>
                <a:lnTo>
                  <a:pt x="8060644" y="5561844"/>
                </a:lnTo>
                <a:lnTo>
                  <a:pt x="0" y="55618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977563" y="2362578"/>
            <a:ext cx="8060644" cy="5561844"/>
          </a:xfrm>
          <a:custGeom>
            <a:avLst/>
            <a:gdLst/>
            <a:ahLst/>
            <a:cxnLst/>
            <a:rect r="r" b="b" t="t" l="l"/>
            <a:pathLst>
              <a:path h="5561844" w="8060644">
                <a:moveTo>
                  <a:pt x="0" y="0"/>
                </a:moveTo>
                <a:lnTo>
                  <a:pt x="8060644" y="0"/>
                </a:lnTo>
                <a:lnTo>
                  <a:pt x="8060644" y="5561844"/>
                </a:lnTo>
                <a:lnTo>
                  <a:pt x="0" y="55618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897919" y="6809551"/>
            <a:ext cx="1348763" cy="1186911"/>
          </a:xfrm>
          <a:custGeom>
            <a:avLst/>
            <a:gdLst/>
            <a:ahLst/>
            <a:cxnLst/>
            <a:rect r="r" b="b" t="t" l="l"/>
            <a:pathLst>
              <a:path h="1186911" w="1348763">
                <a:moveTo>
                  <a:pt x="0" y="0"/>
                </a:moveTo>
                <a:lnTo>
                  <a:pt x="1348763" y="0"/>
                </a:lnTo>
                <a:lnTo>
                  <a:pt x="1348763" y="1186911"/>
                </a:lnTo>
                <a:lnTo>
                  <a:pt x="0" y="118691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1" id="11"/>
          <p:cNvSpPr/>
          <p:nvPr/>
        </p:nvSpPr>
        <p:spPr>
          <a:xfrm flipH="false" flipV="false" rot="0">
            <a:off x="15628759" y="2074497"/>
            <a:ext cx="982693" cy="949527"/>
          </a:xfrm>
          <a:custGeom>
            <a:avLst/>
            <a:gdLst/>
            <a:ahLst/>
            <a:cxnLst/>
            <a:rect r="r" b="b" t="t" l="l"/>
            <a:pathLst>
              <a:path h="949527" w="982693">
                <a:moveTo>
                  <a:pt x="0" y="0"/>
                </a:moveTo>
                <a:lnTo>
                  <a:pt x="982693" y="0"/>
                </a:lnTo>
                <a:lnTo>
                  <a:pt x="982693" y="949527"/>
                </a:lnTo>
                <a:lnTo>
                  <a:pt x="0" y="94952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2" id="12"/>
          <p:cNvSpPr/>
          <p:nvPr/>
        </p:nvSpPr>
        <p:spPr>
          <a:xfrm flipH="false" flipV="false" rot="-679291">
            <a:off x="2519104" y="2368682"/>
            <a:ext cx="370268" cy="1310684"/>
          </a:xfrm>
          <a:custGeom>
            <a:avLst/>
            <a:gdLst/>
            <a:ahLst/>
            <a:cxnLst/>
            <a:rect r="r" b="b" t="t" l="l"/>
            <a:pathLst>
              <a:path h="1310684" w="370268">
                <a:moveTo>
                  <a:pt x="0" y="0"/>
                </a:moveTo>
                <a:lnTo>
                  <a:pt x="370268" y="0"/>
                </a:lnTo>
                <a:lnTo>
                  <a:pt x="370268" y="1310683"/>
                </a:lnTo>
                <a:lnTo>
                  <a:pt x="0" y="131068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5600184" y="6192970"/>
            <a:ext cx="1555191" cy="1652261"/>
          </a:xfrm>
          <a:custGeom>
            <a:avLst/>
            <a:gdLst/>
            <a:ahLst/>
            <a:cxnLst/>
            <a:rect r="r" b="b" t="t" l="l"/>
            <a:pathLst>
              <a:path h="1652261" w="1555191">
                <a:moveTo>
                  <a:pt x="0" y="0"/>
                </a:moveTo>
                <a:lnTo>
                  <a:pt x="1555191" y="0"/>
                </a:lnTo>
                <a:lnTo>
                  <a:pt x="1555191" y="1652262"/>
                </a:lnTo>
                <a:lnTo>
                  <a:pt x="0" y="165226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4" id="14"/>
          <p:cNvSpPr/>
          <p:nvPr/>
        </p:nvSpPr>
        <p:spPr>
          <a:xfrm flipH="false" flipV="false" rot="0">
            <a:off x="6981885" y="1028700"/>
            <a:ext cx="3991356" cy="4114800"/>
          </a:xfrm>
          <a:custGeom>
            <a:avLst/>
            <a:gdLst/>
            <a:ahLst/>
            <a:cxnLst/>
            <a:rect r="r" b="b" t="t" l="l"/>
            <a:pathLst>
              <a:path h="4114800" w="3991356">
                <a:moveTo>
                  <a:pt x="0" y="0"/>
                </a:moveTo>
                <a:lnTo>
                  <a:pt x="3991356" y="0"/>
                </a:lnTo>
                <a:lnTo>
                  <a:pt x="3991356"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5" id="15"/>
          <p:cNvSpPr txBox="true"/>
          <p:nvPr/>
        </p:nvSpPr>
        <p:spPr>
          <a:xfrm rot="0">
            <a:off x="3380417" y="5336115"/>
            <a:ext cx="11527167" cy="2066892"/>
          </a:xfrm>
          <a:prstGeom prst="rect">
            <a:avLst/>
          </a:prstGeom>
        </p:spPr>
        <p:txBody>
          <a:bodyPr anchor="t" rtlCol="false" tIns="0" lIns="0" bIns="0" rIns="0">
            <a:spAutoFit/>
          </a:bodyPr>
          <a:lstStyle/>
          <a:p>
            <a:pPr algn="ctr">
              <a:lnSpc>
                <a:spcPts val="14400"/>
              </a:lnSpc>
            </a:pPr>
            <a:r>
              <a:rPr lang="en-US" sz="12000">
                <a:solidFill>
                  <a:srgbClr val="000000"/>
                </a:solidFill>
                <a:latin typeface="ITC Motter Corpus Semicondensed"/>
                <a:ea typeface="ITC Motter Corpus Semicondensed"/>
                <a:cs typeface="ITC Motter Corpus Semicondensed"/>
                <a:sym typeface="ITC Motter Corpus Semicondense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DAHFWQ1ygtw</dc:identifier>
  <dcterms:modified xsi:type="dcterms:W3CDTF">2011-08-01T06:04:30Z</dcterms:modified>
  <cp:revision>1</cp:revision>
  <dc:title>White Green And Orange Illustrative Elder Care Solutions Presentation</dc:title>
</cp:coreProperties>
</file>